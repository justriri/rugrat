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Rugrat is a voxel arcade game where you replay real, historical Solana rug pulls with 10 paper SOL and try to get out in time. Built for Android and the Solana Seeker for the CLOCK IN hackathon.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I built Rugrat. Memecoin trading is pattern recognition, but we rarely practise recognising the signs of a rug early enough to get out. Every rug looks obvious on a finished chart; that is hindsight. The skill that matters is deciding in the moment. The chart is the real BARRON price history from 20 Jan 2025, rebuilt as blocks on a log scale; the lighter blocks are what a trader could not see yet at the marked moment.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Rugrat turns a recorded rug pull into a short level. You get the same information a trader had at that moment, the real price and the real wallet activity, and you make one decision: when to sell. Only the money is pretend.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are public price candles and wallet trades, processed ahead of time and shipped inside the app, so the running game makes no API calls. A single replay clock drives the terrain, the wallet events and the sound. The engine is deterministic: the same decisions give the same verdict and score.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menu is the world. The home screen is a village gate with the Rugrat character. Pressing play lifts the camera over a village where each replay has its own building carrying that token's real logo. Tapping one selects it and lets you pick Easy or Hard.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Buy spends all 10 paper SOL at the replay price at that timestamp. Selling freezes your position and you keep watching. The verdict compares your sell time to a per-replay signal and to the collapse. The score uses the verdict and timing only, never paper profit.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chart viewer is passive and shows you the ending. Rugrat hides the future the way real time does, asks for one decision, and grades it against the real signal. The table lists the four rugs shipped in the build with figures taken from the recorded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game is fully playable offline with no wallet. Connecting through Mobile Wallet Adapter unlocks recording a score onchain and claiming the badge. The onchain flow was tested on devnet. SKR perks are read-only and cosmetic and never touch scores.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picture. The core game and the devnet onchain flow are built and tested. Mainnet deployment, a hosted leaderboard indexer and the SKR upgrade issuer are not done. The prize pool is dormant code with a gate that is off.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Stickiness comes from the catalogue, the score to beat and the badge. Each rug is a different kind of exit, so skill transfers imperfectly and the score is worth chasing. The roadmap is honest about what needs infrastructure and review.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8FD6FF"/>
        </a:solidFill>
        <a:effectLst/>
      </p:bgPr>
    </p:bg>
    <p:spTree>
      <p:nvGrpSpPr>
        <p:cNvPr id="1" name=""/>
        <p:cNvGrpSpPr/>
        <p:nvPr/>
      </p:nvGrpSpPr>
      <p:grpSpPr/>
      <p:sp>
        <p:nvSpPr>
          <p:cNvPr id="2" name="Rectangle 1"/>
          <p:cNvSpPr/>
          <p:nvPr/>
        </p:nvSpPr>
        <p:spPr>
          <a:xfrm>
            <a:off x="548640" y="502920"/>
            <a:ext cx="274320" cy="274320"/>
          </a:xfrm>
          <a:prstGeom prst="rect">
            <a:avLst/>
          </a:prstGeom>
          <a:solidFill>
            <a:srgbClr val="F7C53B"/>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96112" y="502920"/>
            <a:ext cx="274320" cy="274320"/>
          </a:xfrm>
          <a:prstGeom prst="rect">
            <a:avLst/>
          </a:prstGeom>
          <a:solidFill>
            <a:srgbClr val="F08A24"/>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43584" y="502920"/>
            <a:ext cx="274320" cy="274320"/>
          </a:xfrm>
          <a:prstGeom prst="rect">
            <a:avLst/>
          </a:prstGeom>
          <a:solidFill>
            <a:srgbClr val="F7C53B"/>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591056" y="502920"/>
            <a:ext cx="274320" cy="274320"/>
          </a:xfrm>
          <a:prstGeom prst="rect">
            <a:avLst/>
          </a:prstGeom>
          <a:solidFill>
            <a:srgbClr val="F08A24"/>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938528" y="502920"/>
            <a:ext cx="274320" cy="274320"/>
          </a:xfrm>
          <a:prstGeom prst="rect">
            <a:avLst/>
          </a:prstGeom>
          <a:solidFill>
            <a:srgbClr val="F7C53B"/>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86000" y="502920"/>
            <a:ext cx="274320" cy="274320"/>
          </a:xfrm>
          <a:prstGeom prst="rect">
            <a:avLst/>
          </a:prstGeom>
          <a:solidFill>
            <a:srgbClr val="F08A24"/>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33472" y="502920"/>
            <a:ext cx="274320" cy="274320"/>
          </a:xfrm>
          <a:prstGeom prst="rect">
            <a:avLst/>
          </a:prstGeom>
          <a:solidFill>
            <a:srgbClr val="F7C53B"/>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980944" y="502920"/>
            <a:ext cx="274320" cy="274320"/>
          </a:xfrm>
          <a:prstGeom prst="rect">
            <a:avLst/>
          </a:prstGeom>
          <a:solidFill>
            <a:srgbClr val="F08A24"/>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28416" y="502920"/>
            <a:ext cx="274320" cy="274320"/>
          </a:xfrm>
          <a:prstGeom prst="rect">
            <a:avLst/>
          </a:prstGeom>
          <a:solidFill>
            <a:srgbClr val="F7C53B"/>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005840"/>
            <a:ext cx="6766560" cy="365760"/>
          </a:xfrm>
          <a:prstGeom prst="rect">
            <a:avLst/>
          </a:prstGeom>
          <a:noFill/>
        </p:spPr>
        <p:txBody>
          <a:bodyPr wrap="square" lIns="36576" rIns="36576" tIns="18288" bIns="18288" anchor="t">
            <a:spAutoFit/>
          </a:bodyPr>
          <a:lstStyle/>
          <a:p>
            <a:pPr algn="l">
              <a:spcAft>
                <a:spcPts val="0"/>
              </a:spcAft>
            </a:pPr>
            <a:r>
              <a:rPr sz="1600" b="1">
                <a:solidFill>
                  <a:srgbClr val="4A2608"/>
                </a:solidFill>
                <a:latin typeface="Courier New"/>
              </a:rPr>
              <a:t>CLOCK IN  ·  SOLANA MOBILE HACKATHON</a:t>
            </a:r>
          </a:p>
        </p:txBody>
      </p:sp>
      <p:sp>
        <p:nvSpPr>
          <p:cNvPr id="12" name="TextBox 11"/>
          <p:cNvSpPr txBox="1"/>
          <p:nvPr/>
        </p:nvSpPr>
        <p:spPr>
          <a:xfrm>
            <a:off x="548640" y="1508760"/>
            <a:ext cx="6949440" cy="1554480"/>
          </a:xfrm>
          <a:prstGeom prst="rect">
            <a:avLst/>
          </a:prstGeom>
          <a:noFill/>
        </p:spPr>
        <p:txBody>
          <a:bodyPr wrap="square" lIns="36576" rIns="36576" tIns="18288" bIns="18288" anchor="ctr">
            <a:spAutoFit/>
          </a:bodyPr>
          <a:lstStyle/>
          <a:p>
            <a:pPr algn="l">
              <a:spcAft>
                <a:spcPts val="0"/>
              </a:spcAft>
            </a:pPr>
            <a:r>
              <a:rPr sz="8800" b="1">
                <a:solidFill>
                  <a:srgbClr val="4A2608"/>
                </a:solidFill>
                <a:latin typeface="Courier New"/>
              </a:rPr>
              <a:t>RUGRAT</a:t>
            </a:r>
          </a:p>
        </p:txBody>
      </p:sp>
      <p:sp>
        <p:nvSpPr>
          <p:cNvPr id="13" name="TextBox 12"/>
          <p:cNvSpPr txBox="1"/>
          <p:nvPr/>
        </p:nvSpPr>
        <p:spPr>
          <a:xfrm>
            <a:off x="548640" y="3154680"/>
            <a:ext cx="6766560" cy="1737360"/>
          </a:xfrm>
          <a:prstGeom prst="rect">
            <a:avLst/>
          </a:prstGeom>
          <a:noFill/>
        </p:spPr>
        <p:txBody>
          <a:bodyPr wrap="square" lIns="36576" rIns="36576" tIns="18288" bIns="18288" anchor="t">
            <a:spAutoFit/>
          </a:bodyPr>
          <a:lstStyle/>
          <a:p>
            <a:pPr algn="l">
              <a:spcAft>
                <a:spcPts val="0"/>
              </a:spcAft>
            </a:pPr>
            <a:r>
              <a:rPr sz="2800" b="1">
                <a:solidFill>
                  <a:srgbClr val="4A2608"/>
                </a:solidFill>
                <a:latin typeface="Calibri"/>
              </a:rPr>
              <a:t>Replay real Solana rug pulls</a:t>
            </a:r>
          </a:p>
          <a:p>
            <a:pPr algn="l">
              <a:spcAft>
                <a:spcPts val="1200"/>
              </a:spcAft>
            </a:pPr>
            <a:r>
              <a:rPr sz="2800" b="1">
                <a:solidFill>
                  <a:srgbClr val="4A2608"/>
                </a:solidFill>
                <a:latin typeface="Calibri"/>
              </a:rPr>
              <a:t>with 10 paper SOL.</a:t>
            </a:r>
          </a:p>
          <a:p>
            <a:pPr algn="l">
              <a:spcAft>
                <a:spcPts val="600"/>
              </a:spcAft>
            </a:pPr>
            <a:r>
              <a:rPr sz="2800" b="1">
                <a:solidFill>
                  <a:srgbClr val="B02A2A"/>
                </a:solidFill>
                <a:latin typeface="Calibri"/>
              </a:rPr>
              <a:t>Can you get out in time?</a:t>
            </a:r>
          </a:p>
        </p:txBody>
      </p:sp>
      <p:sp>
        <p:nvSpPr>
          <p:cNvPr id="14" name="Rectangle 13"/>
          <p:cNvSpPr/>
          <p:nvPr/>
        </p:nvSpPr>
        <p:spPr>
          <a:xfrm>
            <a:off x="548640" y="5074920"/>
            <a:ext cx="6400800" cy="36576"/>
          </a:xfrm>
          <a:prstGeom prst="rect">
            <a:avLst/>
          </a:prstGeom>
          <a:solidFill>
            <a:srgbClr val="4A26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5212080"/>
            <a:ext cx="6766560" cy="914400"/>
          </a:xfrm>
          <a:prstGeom prst="rect">
            <a:avLst/>
          </a:prstGeom>
          <a:noFill/>
        </p:spPr>
        <p:txBody>
          <a:bodyPr wrap="square" lIns="36576" rIns="36576" tIns="18288" bIns="18288" anchor="t">
            <a:spAutoFit/>
          </a:bodyPr>
          <a:lstStyle/>
          <a:p>
            <a:pPr algn="l">
              <a:spcAft>
                <a:spcPts val="400"/>
              </a:spcAft>
            </a:pPr>
            <a:r>
              <a:rPr sz="1800" b="0">
                <a:solidFill>
                  <a:srgbClr val="4A2608"/>
                </a:solidFill>
                <a:latin typeface="Calibri"/>
              </a:rPr>
              <a:t>A voxel arcade game for Android, built for the Solana Seeker.</a:t>
            </a:r>
          </a:p>
          <a:p>
            <a:pPr algn="l">
              <a:spcAft>
                <a:spcPts val="400"/>
              </a:spcAft>
            </a:pPr>
            <a:r>
              <a:rPr sz="1800" b="0">
                <a:solidFill>
                  <a:srgbClr val="4A2608"/>
                </a:solidFill>
                <a:latin typeface="Calibri"/>
              </a:rPr>
              <a:t>Four real rugs. One decision. No money at risk.</a:t>
            </a:r>
          </a:p>
        </p:txBody>
      </p:sp>
      <p:sp>
        <p:nvSpPr>
          <p:cNvPr id="16" name="Rectangle 15"/>
          <p:cNvSpPr/>
          <p:nvPr/>
        </p:nvSpPr>
        <p:spPr>
          <a:xfrm>
            <a:off x="8321040" y="548640"/>
            <a:ext cx="3007233" cy="6053328"/>
          </a:xfrm>
          <a:prstGeom prst="rect">
            <a:avLst/>
          </a:prstGeom>
          <a:solidFill>
            <a:srgbClr val="4A26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93024" y="420624"/>
            <a:ext cx="3007233" cy="6053328"/>
          </a:xfrm>
          <a:prstGeom prst="rect">
            <a:avLst/>
          </a:prstGeom>
          <a:solidFill>
            <a:srgbClr val="141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home.png"/>
          <p:cNvPicPr>
            <a:picLocks noChangeAspect="1"/>
          </p:cNvPicPr>
          <p:nvPr/>
        </p:nvPicPr>
        <p:blipFill>
          <a:blip r:embed="rId3"/>
          <a:stretch>
            <a:fillRect/>
          </a:stretch>
        </p:blipFill>
        <p:spPr>
          <a:xfrm>
            <a:off x="8247888" y="475488"/>
            <a:ext cx="2897505" cy="59436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4DC"/>
        </a:solidFill>
        <a:effectLst/>
      </p:bgPr>
    </p:bg>
    <p:spTree>
      <p:nvGrpSpPr>
        <p:cNvPr id="1" name=""/>
        <p:cNvGrpSpPr/>
        <p:nvPr/>
      </p:nvGrpSpPr>
      <p:grpSpPr/>
      <p:sp>
        <p:nvSpPr>
          <p:cNvPr id="2" name="TextBox 1"/>
          <p:cNvSpPr txBox="1"/>
          <p:nvPr/>
        </p:nvSpPr>
        <p:spPr>
          <a:xfrm>
            <a:off x="548640" y="274320"/>
            <a:ext cx="11064240" cy="1143000"/>
          </a:xfrm>
          <a:prstGeom prst="rect">
            <a:avLst/>
          </a:prstGeom>
          <a:noFill/>
        </p:spPr>
        <p:txBody>
          <a:bodyPr wrap="square" lIns="36576" rIns="36576" tIns="18288" bIns="18288" anchor="ctr">
            <a:spAutoFit/>
          </a:bodyPr>
          <a:lstStyle/>
          <a:p>
            <a:pPr algn="l">
              <a:spcAft>
                <a:spcPts val="200"/>
              </a:spcAft>
            </a:pPr>
            <a:r>
              <a:rPr sz="3000" b="1">
                <a:solidFill>
                  <a:srgbClr val="4A2608"/>
                </a:solidFill>
                <a:latin typeface="Courier New"/>
              </a:rPr>
              <a:t>We teach traders to spot opportunities.</a:t>
            </a:r>
          </a:p>
          <a:p>
            <a:pPr algn="l">
              <a:spcAft>
                <a:spcPts val="0"/>
              </a:spcAft>
            </a:pPr>
            <a:r>
              <a:rPr sz="3000" b="1">
                <a:solidFill>
                  <a:srgbClr val="B02A2A"/>
                </a:solidFill>
                <a:latin typeface="Courier New"/>
              </a:rPr>
              <a:t>What about spotting the exit?</a:t>
            </a:r>
          </a:p>
        </p:txBody>
      </p:sp>
      <p:sp>
        <p:nvSpPr>
          <p:cNvPr id="3" name="Rectangle 2"/>
          <p:cNvSpPr/>
          <p:nvPr/>
        </p:nvSpPr>
        <p:spPr>
          <a:xfrm>
            <a:off x="585216" y="1481328"/>
            <a:ext cx="201168" cy="201168"/>
          </a:xfrm>
          <a:prstGeom prst="rect">
            <a:avLst/>
          </a:prstGeom>
          <a:solidFill>
            <a:srgbClr val="F7C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9536" y="1481328"/>
            <a:ext cx="201168" cy="201168"/>
          </a:xfrm>
          <a:prstGeom prst="rect">
            <a:avLst/>
          </a:prstGeom>
          <a:solidFill>
            <a:srgbClr val="F08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33856" y="1481328"/>
            <a:ext cx="201168" cy="201168"/>
          </a:xfrm>
          <a:prstGeom prst="rect">
            <a:avLst/>
          </a:prstGeom>
          <a:solidFill>
            <a:srgbClr val="F7C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08176" y="1481328"/>
            <a:ext cx="201168" cy="201168"/>
          </a:xfrm>
          <a:prstGeom prst="rect">
            <a:avLst/>
          </a:prstGeom>
          <a:solidFill>
            <a:srgbClr val="F08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74519"/>
            <a:ext cx="5257800" cy="3291840"/>
          </a:xfrm>
          <a:prstGeom prst="rect">
            <a:avLst/>
          </a:prstGeom>
          <a:noFill/>
        </p:spPr>
        <p:txBody>
          <a:bodyPr wrap="square" lIns="36576" rIns="36576" tIns="18288" bIns="18288" anchor="t">
            <a:spAutoFit/>
          </a:bodyPr>
          <a:lstStyle/>
          <a:p>
            <a:pPr algn="l">
              <a:spcAft>
                <a:spcPts val="1400"/>
              </a:spcAft>
            </a:pPr>
            <a:r>
              <a:rPr sz="1900" b="0">
                <a:solidFill>
                  <a:srgbClr val="4A2608"/>
                </a:solidFill>
                <a:latin typeface="Calibri"/>
              </a:rPr>
              <a:t>Memecoin trading is </a:t>
            </a:r>
            <a:r>
              <a:rPr sz="1900" b="1">
                <a:solidFill>
                  <a:srgbClr val="4A2608"/>
                </a:solidFill>
                <a:latin typeface="Calibri"/>
              </a:rPr>
              <a:t>pattern recognition</a:t>
            </a:r>
            <a:r>
              <a:rPr sz="1900" b="0">
                <a:solidFill>
                  <a:srgbClr val="4A2608"/>
                </a:solidFill>
                <a:latin typeface="Calibri"/>
              </a:rPr>
              <a:t>. We study charts to find tokens before they run, but rarely practise recognising the signs of a rug before it’s too late.</a:t>
            </a:r>
          </a:p>
          <a:p>
            <a:pPr algn="l">
              <a:spcAft>
                <a:spcPts val="1400"/>
              </a:spcAft>
            </a:pPr>
            <a:r>
              <a:rPr sz="1900" b="0">
                <a:solidFill>
                  <a:srgbClr val="4A2608"/>
                </a:solidFill>
                <a:latin typeface="Calibri"/>
              </a:rPr>
              <a:t>Every rug pull looks obvious on a finished chart. That’s </a:t>
            </a:r>
            <a:r>
              <a:rPr sz="1900" b="1">
                <a:solidFill>
                  <a:srgbClr val="B02A2A"/>
                </a:solidFill>
                <a:latin typeface="Calibri"/>
              </a:rPr>
              <a:t>hindsight</a:t>
            </a:r>
            <a:r>
              <a:rPr sz="1900" b="0">
                <a:solidFill>
                  <a:srgbClr val="4A2608"/>
                </a:solidFill>
                <a:latin typeface="Calibri"/>
              </a:rPr>
              <a:t>. You already know the ending.</a:t>
            </a:r>
          </a:p>
          <a:p>
            <a:pPr algn="l">
              <a:spcAft>
                <a:spcPts val="0"/>
              </a:spcAft>
            </a:pPr>
            <a:r>
              <a:rPr sz="1900" b="0">
                <a:solidFill>
                  <a:srgbClr val="4A2608"/>
                </a:solidFill>
                <a:latin typeface="Calibri"/>
              </a:rPr>
              <a:t>The real skill is </a:t>
            </a:r>
            <a:r>
              <a:rPr sz="1900" b="1">
                <a:solidFill>
                  <a:srgbClr val="4A2608"/>
                </a:solidFill>
                <a:latin typeface="Calibri"/>
              </a:rPr>
              <a:t>deciding while it’s still unfolding</a:t>
            </a:r>
            <a:r>
              <a:rPr sz="1900" b="0">
                <a:solidFill>
                  <a:srgbClr val="4A2608"/>
                </a:solidFill>
                <a:latin typeface="Calibri"/>
              </a:rPr>
              <a:t>. I built Rugrat to give traders a place to practise that decision before real money is on the line.</a:t>
            </a:r>
          </a:p>
        </p:txBody>
      </p:sp>
      <p:sp>
        <p:nvSpPr>
          <p:cNvPr id="8" name="Rectangle 7"/>
          <p:cNvSpPr/>
          <p:nvPr/>
        </p:nvSpPr>
        <p:spPr>
          <a:xfrm>
            <a:off x="612648" y="5486400"/>
            <a:ext cx="5257800" cy="640080"/>
          </a:xfrm>
          <a:prstGeom prst="rect">
            <a:avLst/>
          </a:prstGeom>
          <a:solidFill>
            <a:srgbClr val="4A26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422392"/>
            <a:ext cx="5257800" cy="640080"/>
          </a:xfrm>
          <a:prstGeom prst="rect">
            <a:avLst/>
          </a:prstGeom>
          <a:solidFill>
            <a:srgbClr val="F7C53B"/>
          </a:solidFill>
          <a:ln w="317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5422392"/>
            <a:ext cx="5257800" cy="640080"/>
          </a:xfrm>
          <a:prstGeom prst="rect">
            <a:avLst/>
          </a:prstGeom>
          <a:noFill/>
        </p:spPr>
        <p:txBody>
          <a:bodyPr wrap="square" lIns="36576" rIns="36576" tIns="18288" bIns="18288" anchor="ctr">
            <a:spAutoFit/>
          </a:bodyPr>
          <a:lstStyle/>
          <a:p>
            <a:pPr algn="ctr">
              <a:spcAft>
                <a:spcPts val="0"/>
              </a:spcAft>
            </a:pPr>
            <a:r>
              <a:rPr sz="2200" b="1">
                <a:solidFill>
                  <a:srgbClr val="4A2608"/>
                </a:solidFill>
                <a:latin typeface="Calibri"/>
              </a:rPr>
              <a:t>That’s why I built Rugrat.</a:t>
            </a:r>
          </a:p>
        </p:txBody>
      </p:sp>
      <p:sp>
        <p:nvSpPr>
          <p:cNvPr id="11" name="Rectangle 10"/>
          <p:cNvSpPr/>
          <p:nvPr/>
        </p:nvSpPr>
        <p:spPr>
          <a:xfrm>
            <a:off x="6245352" y="1856231"/>
            <a:ext cx="5486400" cy="4343400"/>
          </a:xfrm>
          <a:prstGeom prst="rect">
            <a:avLst/>
          </a:prstGeom>
          <a:solidFill>
            <a:srgbClr val="4A26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5486400" cy="4343400"/>
          </a:xfrm>
          <a:prstGeom prst="rect">
            <a:avLst/>
          </a:prstGeom>
          <a:solidFill>
            <a:srgbClr val="FFFFFF"/>
          </a:solidFill>
          <a:ln w="317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46520" y="4853853"/>
            <a:ext cx="128016" cy="705698"/>
          </a:xfrm>
          <a:prstGeom prst="rect">
            <a:avLst/>
          </a:prstGeom>
          <a:solidFill>
            <a:srgbClr val="6FB85A"/>
          </a:solidFill>
          <a:ln w="9525">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83680" y="5143666"/>
            <a:ext cx="128016" cy="415885"/>
          </a:xfrm>
          <a:prstGeom prst="rect">
            <a:avLst/>
          </a:prstGeom>
          <a:solidFill>
            <a:srgbClr val="6FB85A"/>
          </a:solidFill>
          <a:ln w="9525">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720840" y="5103901"/>
            <a:ext cx="128016" cy="455650"/>
          </a:xfrm>
          <a:prstGeom prst="rect">
            <a:avLst/>
          </a:prstGeom>
          <a:solidFill>
            <a:srgbClr val="6FB85A"/>
          </a:solidFill>
          <a:ln w="9525">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0" y="5019230"/>
            <a:ext cx="128016" cy="540321"/>
          </a:xfrm>
          <a:prstGeom prst="rect">
            <a:avLst/>
          </a:prstGeom>
          <a:solidFill>
            <a:srgbClr val="6FB85A"/>
          </a:solidFill>
          <a:ln w="9525">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995160" y="4872555"/>
            <a:ext cx="128016" cy="686996"/>
          </a:xfrm>
          <a:prstGeom prst="rect">
            <a:avLst/>
          </a:prstGeom>
          <a:solidFill>
            <a:srgbClr val="6FB85A"/>
          </a:solidFill>
          <a:ln w="9525">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0" y="4722533"/>
            <a:ext cx="128016" cy="837018"/>
          </a:xfrm>
          <a:prstGeom prst="rect">
            <a:avLst/>
          </a:prstGeom>
          <a:solidFill>
            <a:srgbClr val="6FB85A"/>
          </a:solidFill>
          <a:ln w="9525">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69480" y="4627668"/>
            <a:ext cx="128016" cy="931883"/>
          </a:xfrm>
          <a:prstGeom prst="rect">
            <a:avLst/>
          </a:prstGeom>
          <a:solidFill>
            <a:srgbClr val="6FB85A"/>
          </a:solidFill>
          <a:ln w="9525">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06640" y="4292336"/>
            <a:ext cx="128016" cy="1267215"/>
          </a:xfrm>
          <a:prstGeom prst="rect">
            <a:avLst/>
          </a:prstGeom>
          <a:solidFill>
            <a:srgbClr val="6FB85A"/>
          </a:solidFill>
          <a:ln w="9525">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543800" y="3938556"/>
            <a:ext cx="128016" cy="1620995"/>
          </a:xfrm>
          <a:prstGeom prst="rect">
            <a:avLst/>
          </a:prstGeom>
          <a:solidFill>
            <a:srgbClr val="6FB85A"/>
          </a:solidFill>
          <a:ln w="9525">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680960" y="3693592"/>
            <a:ext cx="128016" cy="1865959"/>
          </a:xfrm>
          <a:prstGeom prst="rect">
            <a:avLst/>
          </a:prstGeom>
          <a:solidFill>
            <a:srgbClr val="6FB85A"/>
          </a:solidFill>
          <a:ln w="9525">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18120" y="3880350"/>
            <a:ext cx="128016" cy="1679201"/>
          </a:xfrm>
          <a:prstGeom prst="rect">
            <a:avLst/>
          </a:prstGeom>
          <a:solidFill>
            <a:srgbClr val="CFE8C4"/>
          </a:solidFill>
          <a:ln w="9525">
            <a:solidFill>
              <a:srgbClr val="C9A9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955279" y="3786211"/>
            <a:ext cx="128016" cy="1773340"/>
          </a:xfrm>
          <a:prstGeom prst="rect">
            <a:avLst/>
          </a:prstGeom>
          <a:solidFill>
            <a:srgbClr val="CFE8C4"/>
          </a:solidFill>
          <a:ln w="9525">
            <a:solidFill>
              <a:srgbClr val="C9A9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92440" y="3760514"/>
            <a:ext cx="128016" cy="1799037"/>
          </a:xfrm>
          <a:prstGeom prst="rect">
            <a:avLst/>
          </a:prstGeom>
          <a:solidFill>
            <a:srgbClr val="CFE8C4"/>
          </a:solidFill>
          <a:ln w="9525">
            <a:solidFill>
              <a:srgbClr val="C9A9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229600" y="3330467"/>
            <a:ext cx="128016" cy="2229084"/>
          </a:xfrm>
          <a:prstGeom prst="rect">
            <a:avLst/>
          </a:prstGeom>
          <a:solidFill>
            <a:srgbClr val="CFE8C4"/>
          </a:solidFill>
          <a:ln w="9525">
            <a:solidFill>
              <a:srgbClr val="C9A9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366760" y="2843784"/>
            <a:ext cx="128016" cy="2715768"/>
          </a:xfrm>
          <a:prstGeom prst="rect">
            <a:avLst/>
          </a:prstGeom>
          <a:solidFill>
            <a:srgbClr val="CFE8C4"/>
          </a:solidFill>
          <a:ln w="9525">
            <a:solidFill>
              <a:srgbClr val="C9A9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503920" y="3016728"/>
            <a:ext cx="128016" cy="2542823"/>
          </a:xfrm>
          <a:prstGeom prst="rect">
            <a:avLst/>
          </a:prstGeom>
          <a:solidFill>
            <a:srgbClr val="EBBDBD"/>
          </a:solidFill>
          <a:ln w="9525">
            <a:solidFill>
              <a:srgbClr val="C9A9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80" y="3169337"/>
            <a:ext cx="128016" cy="2390214"/>
          </a:xfrm>
          <a:prstGeom prst="rect">
            <a:avLst/>
          </a:prstGeom>
          <a:solidFill>
            <a:srgbClr val="EBBDBD"/>
          </a:solidFill>
          <a:ln w="9525">
            <a:solidFill>
              <a:srgbClr val="C9A9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778240" y="3277573"/>
            <a:ext cx="128016" cy="2281978"/>
          </a:xfrm>
          <a:prstGeom prst="rect">
            <a:avLst/>
          </a:prstGeom>
          <a:solidFill>
            <a:srgbClr val="EBBDBD"/>
          </a:solidFill>
          <a:ln w="9525">
            <a:solidFill>
              <a:srgbClr val="C9A9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915400" y="3411892"/>
            <a:ext cx="128016" cy="2147659"/>
          </a:xfrm>
          <a:prstGeom prst="rect">
            <a:avLst/>
          </a:prstGeom>
          <a:solidFill>
            <a:srgbClr val="EBBDBD"/>
          </a:solidFill>
          <a:ln w="9525">
            <a:solidFill>
              <a:srgbClr val="C9A9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052560" y="3578620"/>
            <a:ext cx="128016" cy="1980931"/>
          </a:xfrm>
          <a:prstGeom prst="rect">
            <a:avLst/>
          </a:prstGeom>
          <a:solidFill>
            <a:srgbClr val="EBBDBD"/>
          </a:solidFill>
          <a:ln w="9525">
            <a:solidFill>
              <a:srgbClr val="C9A9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189720" y="3204068"/>
            <a:ext cx="128016" cy="2355483"/>
          </a:xfrm>
          <a:prstGeom prst="rect">
            <a:avLst/>
          </a:prstGeom>
          <a:solidFill>
            <a:srgbClr val="EBBDBD"/>
          </a:solidFill>
          <a:ln w="9525">
            <a:solidFill>
              <a:srgbClr val="C9A9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326880" y="3491897"/>
            <a:ext cx="128016" cy="2067654"/>
          </a:xfrm>
          <a:prstGeom prst="rect">
            <a:avLst/>
          </a:prstGeom>
          <a:solidFill>
            <a:srgbClr val="EBBDBD"/>
          </a:solidFill>
          <a:ln w="9525">
            <a:solidFill>
              <a:srgbClr val="C9A9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464040" y="3628248"/>
            <a:ext cx="128016" cy="1931303"/>
          </a:xfrm>
          <a:prstGeom prst="rect">
            <a:avLst/>
          </a:prstGeom>
          <a:solidFill>
            <a:srgbClr val="EBBDBD"/>
          </a:solidFill>
          <a:ln w="9525">
            <a:solidFill>
              <a:srgbClr val="C9A9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601200" y="3676796"/>
            <a:ext cx="128016" cy="1882755"/>
          </a:xfrm>
          <a:prstGeom prst="rect">
            <a:avLst/>
          </a:prstGeom>
          <a:solidFill>
            <a:srgbClr val="EBBDBD"/>
          </a:solidFill>
          <a:ln w="9525">
            <a:solidFill>
              <a:srgbClr val="C9A9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738360" y="3820787"/>
            <a:ext cx="128016" cy="1738764"/>
          </a:xfrm>
          <a:prstGeom prst="rect">
            <a:avLst/>
          </a:prstGeom>
          <a:solidFill>
            <a:srgbClr val="EBBDBD"/>
          </a:solidFill>
          <a:ln w="9525">
            <a:solidFill>
              <a:srgbClr val="C9A9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75520" y="4189534"/>
            <a:ext cx="128016" cy="1370017"/>
          </a:xfrm>
          <a:prstGeom prst="rect">
            <a:avLst/>
          </a:prstGeom>
          <a:solidFill>
            <a:srgbClr val="EBBDBD"/>
          </a:solidFill>
          <a:ln w="9525">
            <a:solidFill>
              <a:srgbClr val="C9A9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012680" y="4900899"/>
            <a:ext cx="128016" cy="658652"/>
          </a:xfrm>
          <a:prstGeom prst="rect">
            <a:avLst/>
          </a:prstGeom>
          <a:solidFill>
            <a:srgbClr val="EBBDBD"/>
          </a:solidFill>
          <a:ln w="9525">
            <a:solidFill>
              <a:srgbClr val="C9A9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0149840" y="4702995"/>
            <a:ext cx="128016" cy="856556"/>
          </a:xfrm>
          <a:prstGeom prst="rect">
            <a:avLst/>
          </a:prstGeom>
          <a:solidFill>
            <a:srgbClr val="EBBDBD"/>
          </a:solidFill>
          <a:ln w="9525">
            <a:solidFill>
              <a:srgbClr val="C9A9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287000" y="4913655"/>
            <a:ext cx="128016" cy="645896"/>
          </a:xfrm>
          <a:prstGeom prst="rect">
            <a:avLst/>
          </a:prstGeom>
          <a:solidFill>
            <a:srgbClr val="EBBDBD"/>
          </a:solidFill>
          <a:ln w="9525">
            <a:solidFill>
              <a:srgbClr val="C9A9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424160" y="5096449"/>
            <a:ext cx="128016" cy="463102"/>
          </a:xfrm>
          <a:prstGeom prst="rect">
            <a:avLst/>
          </a:prstGeom>
          <a:solidFill>
            <a:srgbClr val="EBBDBD"/>
          </a:solidFill>
          <a:ln w="9525">
            <a:solidFill>
              <a:srgbClr val="C9A9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561320" y="5291014"/>
            <a:ext cx="128016" cy="268537"/>
          </a:xfrm>
          <a:prstGeom prst="rect">
            <a:avLst/>
          </a:prstGeom>
          <a:solidFill>
            <a:srgbClr val="EBBDBD"/>
          </a:solidFill>
          <a:ln w="9525">
            <a:solidFill>
              <a:srgbClr val="C9A9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698480" y="5168944"/>
            <a:ext cx="128016" cy="390607"/>
          </a:xfrm>
          <a:prstGeom prst="rect">
            <a:avLst/>
          </a:prstGeom>
          <a:solidFill>
            <a:srgbClr val="EBBDBD"/>
          </a:solidFill>
          <a:ln w="9525">
            <a:solidFill>
              <a:srgbClr val="C9A9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835640" y="5272351"/>
            <a:ext cx="128016" cy="287200"/>
          </a:xfrm>
          <a:prstGeom prst="rect">
            <a:avLst/>
          </a:prstGeom>
          <a:solidFill>
            <a:srgbClr val="EBBDBD"/>
          </a:solidFill>
          <a:ln w="9525">
            <a:solidFill>
              <a:srgbClr val="C9A9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972800" y="5449824"/>
            <a:ext cx="128016" cy="109728"/>
          </a:xfrm>
          <a:prstGeom prst="rect">
            <a:avLst/>
          </a:prstGeom>
          <a:solidFill>
            <a:srgbClr val="EBBDBD"/>
          </a:solidFill>
          <a:ln w="9525">
            <a:solidFill>
              <a:srgbClr val="C9A9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1109960" y="5292545"/>
            <a:ext cx="128016" cy="267006"/>
          </a:xfrm>
          <a:prstGeom prst="rect">
            <a:avLst/>
          </a:prstGeom>
          <a:solidFill>
            <a:srgbClr val="EBBDBD"/>
          </a:solidFill>
          <a:ln w="9525">
            <a:solidFill>
              <a:srgbClr val="C9A9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1247120" y="5082954"/>
            <a:ext cx="128016" cy="476597"/>
          </a:xfrm>
          <a:prstGeom prst="rect">
            <a:avLst/>
          </a:prstGeom>
          <a:solidFill>
            <a:srgbClr val="EBBDBD"/>
          </a:solidFill>
          <a:ln w="9525">
            <a:solidFill>
              <a:srgbClr val="C9A9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99832" y="1965960"/>
            <a:ext cx="36576" cy="3593591"/>
          </a:xfrm>
          <a:prstGeom prst="rect">
            <a:avLst/>
          </a:prstGeom>
          <a:solidFill>
            <a:srgbClr val="4A26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836408" y="1965960"/>
            <a:ext cx="2103120" cy="640080"/>
          </a:xfrm>
          <a:prstGeom prst="rect">
            <a:avLst/>
          </a:prstGeom>
          <a:solidFill>
            <a:srgbClr val="F7C53B"/>
          </a:solidFill>
          <a:ln w="2540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836408" y="1965960"/>
            <a:ext cx="2103120" cy="640080"/>
          </a:xfrm>
          <a:prstGeom prst="rect">
            <a:avLst/>
          </a:prstGeom>
          <a:noFill/>
        </p:spPr>
        <p:txBody>
          <a:bodyPr wrap="square" lIns="36576" rIns="36576" tIns="18288" bIns="18288" anchor="ctr">
            <a:spAutoFit/>
          </a:bodyPr>
          <a:lstStyle/>
          <a:p>
            <a:pPr algn="ctr">
              <a:spcAft>
                <a:spcPts val="0"/>
              </a:spcAft>
            </a:pPr>
            <a:r>
              <a:rPr sz="1500" b="1">
                <a:solidFill>
                  <a:srgbClr val="4A2608"/>
                </a:solidFill>
                <a:latin typeface="Calibri"/>
              </a:rPr>
              <a:t>You are here.</a:t>
            </a:r>
          </a:p>
          <a:p>
            <a:pPr algn="ctr">
              <a:spcAft>
                <a:spcPts val="0"/>
              </a:spcAft>
            </a:pPr>
            <a:r>
              <a:rPr sz="1500" b="0">
                <a:solidFill>
                  <a:srgbClr val="4A2608"/>
                </a:solidFill>
                <a:latin typeface="Calibri"/>
              </a:rPr>
              <a:t>What happens next?</a:t>
            </a:r>
          </a:p>
        </p:txBody>
      </p:sp>
      <p:sp>
        <p:nvSpPr>
          <p:cNvPr id="52" name="TextBox 51"/>
          <p:cNvSpPr txBox="1"/>
          <p:nvPr/>
        </p:nvSpPr>
        <p:spPr>
          <a:xfrm>
            <a:off x="6263640" y="5623560"/>
            <a:ext cx="5303520" cy="457200"/>
          </a:xfrm>
          <a:prstGeom prst="rect">
            <a:avLst/>
          </a:prstGeom>
          <a:noFill/>
        </p:spPr>
        <p:txBody>
          <a:bodyPr wrap="square" lIns="36576" rIns="36576" tIns="18288" bIns="18288" anchor="ctr">
            <a:spAutoFit/>
          </a:bodyPr>
          <a:lstStyle/>
          <a:p>
            <a:pPr algn="ctr">
              <a:spcAft>
                <a:spcPts val="0"/>
              </a:spcAft>
            </a:pPr>
            <a:r>
              <a:rPr sz="1200" b="0">
                <a:solidFill>
                  <a:srgbClr val="4A2608"/>
                </a:solidFill>
                <a:latin typeface="Calibri"/>
              </a:rPr>
              <a:t>BARRON, 20 Jan 2025 · real prices, log scale, about 3 hours. Lighter blocks: what you couldn’t see yet.</a:t>
            </a:r>
          </a:p>
        </p:txBody>
      </p:sp>
      <p:sp>
        <p:nvSpPr>
          <p:cNvPr id="53" name="TextBox 52"/>
          <p:cNvSpPr txBox="1"/>
          <p:nvPr/>
        </p:nvSpPr>
        <p:spPr>
          <a:xfrm>
            <a:off x="11155680" y="6446520"/>
            <a:ext cx="640080" cy="274320"/>
          </a:xfrm>
          <a:prstGeom prst="rect">
            <a:avLst/>
          </a:prstGeom>
          <a:noFill/>
        </p:spPr>
        <p:txBody>
          <a:bodyPr wrap="square" lIns="36576" rIns="36576" tIns="18288" bIns="18288" anchor="t">
            <a:spAutoFit/>
          </a:bodyPr>
          <a:lstStyle/>
          <a:p>
            <a:pPr algn="r">
              <a:spcAft>
                <a:spcPts val="0"/>
              </a:spcAft>
            </a:pPr>
            <a:r>
              <a:rPr sz="1100" b="1">
                <a:solidFill>
                  <a:srgbClr val="4A2608"/>
                </a:solidFill>
                <a:latin typeface="Courier New"/>
              </a:rPr>
              <a:t>2</a:t>
            </a:r>
          </a:p>
        </p:txBody>
      </p:sp>
      <p:sp>
        <p:nvSpPr>
          <p:cNvPr id="54" name="TextBox 53"/>
          <p:cNvSpPr txBox="1"/>
          <p:nvPr/>
        </p:nvSpPr>
        <p:spPr>
          <a:xfrm>
            <a:off x="548640" y="6446520"/>
            <a:ext cx="7315200" cy="274320"/>
          </a:xfrm>
          <a:prstGeom prst="rect">
            <a:avLst/>
          </a:prstGeom>
          <a:noFill/>
        </p:spPr>
        <p:txBody>
          <a:bodyPr wrap="square" lIns="36576" rIns="36576" tIns="18288" bIns="18288" anchor="t">
            <a:spAutoFit/>
          </a:bodyPr>
          <a:lstStyle/>
          <a:p>
            <a:pPr algn="l">
              <a:spcAft>
                <a:spcPts val="0"/>
              </a:spcAft>
            </a:pPr>
            <a:r>
              <a:rPr sz="1100" b="0">
                <a:solidFill>
                  <a:srgbClr val="4A2608"/>
                </a:solidFill>
                <a:latin typeface="Courier New"/>
              </a:rPr>
              <a:t>RUGRAT  ·  CLOCK IN: Solana Mobile Hackathon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4DC"/>
        </a:solidFill>
        <a:effectLst/>
      </p:bgPr>
    </p:bg>
    <p:spTree>
      <p:nvGrpSpPr>
        <p:cNvPr id="1" name=""/>
        <p:cNvGrpSpPr/>
        <p:nvPr/>
      </p:nvGrpSpPr>
      <p:grpSpPr/>
      <p:sp>
        <p:nvSpPr>
          <p:cNvPr id="2" name="TextBox 1"/>
          <p:cNvSpPr txBox="1"/>
          <p:nvPr/>
        </p:nvSpPr>
        <p:spPr>
          <a:xfrm>
            <a:off x="548640" y="347472"/>
            <a:ext cx="11064240" cy="822960"/>
          </a:xfrm>
          <a:prstGeom prst="rect">
            <a:avLst/>
          </a:prstGeom>
          <a:noFill/>
        </p:spPr>
        <p:txBody>
          <a:bodyPr wrap="square" lIns="36576" rIns="36576" tIns="18288" bIns="18288" anchor="ctr">
            <a:spAutoFit/>
          </a:bodyPr>
          <a:lstStyle/>
          <a:p>
            <a:pPr algn="l">
              <a:spcAft>
                <a:spcPts val="0"/>
              </a:spcAft>
            </a:pPr>
            <a:r>
              <a:rPr sz="3000" b="1">
                <a:solidFill>
                  <a:srgbClr val="4A2608"/>
                </a:solidFill>
                <a:latin typeface="Courier New"/>
              </a:rPr>
              <a:t>Live the rug instead of reading about it</a:t>
            </a:r>
          </a:p>
        </p:txBody>
      </p:sp>
      <p:sp>
        <p:nvSpPr>
          <p:cNvPr id="3" name="Rectangle 2"/>
          <p:cNvSpPr/>
          <p:nvPr/>
        </p:nvSpPr>
        <p:spPr>
          <a:xfrm>
            <a:off x="585216" y="1188720"/>
            <a:ext cx="201168" cy="201168"/>
          </a:xfrm>
          <a:prstGeom prst="rect">
            <a:avLst/>
          </a:prstGeom>
          <a:solidFill>
            <a:srgbClr val="F7C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9536" y="1188720"/>
            <a:ext cx="201168" cy="201168"/>
          </a:xfrm>
          <a:prstGeom prst="rect">
            <a:avLst/>
          </a:prstGeom>
          <a:solidFill>
            <a:srgbClr val="F08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33856" y="1188720"/>
            <a:ext cx="201168" cy="201168"/>
          </a:xfrm>
          <a:prstGeom prst="rect">
            <a:avLst/>
          </a:prstGeom>
          <a:solidFill>
            <a:srgbClr val="F7C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08176" y="1188720"/>
            <a:ext cx="201168" cy="201168"/>
          </a:xfrm>
          <a:prstGeom prst="rect">
            <a:avLst/>
          </a:prstGeom>
          <a:solidFill>
            <a:srgbClr val="F08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46520"/>
            <a:ext cx="640080" cy="274320"/>
          </a:xfrm>
          <a:prstGeom prst="rect">
            <a:avLst/>
          </a:prstGeom>
          <a:noFill/>
        </p:spPr>
        <p:txBody>
          <a:bodyPr wrap="square" lIns="36576" rIns="36576" tIns="18288" bIns="18288" anchor="t">
            <a:spAutoFit/>
          </a:bodyPr>
          <a:lstStyle/>
          <a:p>
            <a:pPr algn="r">
              <a:spcAft>
                <a:spcPts val="0"/>
              </a:spcAft>
            </a:pPr>
            <a:r>
              <a:rPr sz="1100" b="1">
                <a:solidFill>
                  <a:srgbClr val="4A2608"/>
                </a:solidFill>
                <a:latin typeface="Courier New"/>
              </a:rPr>
              <a:t>3</a:t>
            </a:r>
          </a:p>
        </p:txBody>
      </p:sp>
      <p:sp>
        <p:nvSpPr>
          <p:cNvPr id="8" name="TextBox 7"/>
          <p:cNvSpPr txBox="1"/>
          <p:nvPr/>
        </p:nvSpPr>
        <p:spPr>
          <a:xfrm>
            <a:off x="548640" y="6446520"/>
            <a:ext cx="7315200" cy="274320"/>
          </a:xfrm>
          <a:prstGeom prst="rect">
            <a:avLst/>
          </a:prstGeom>
          <a:noFill/>
        </p:spPr>
        <p:txBody>
          <a:bodyPr wrap="square" lIns="36576" rIns="36576" tIns="18288" bIns="18288" anchor="t">
            <a:spAutoFit/>
          </a:bodyPr>
          <a:lstStyle/>
          <a:p>
            <a:pPr algn="l">
              <a:spcAft>
                <a:spcPts val="0"/>
              </a:spcAft>
            </a:pPr>
            <a:r>
              <a:rPr sz="1100" b="0">
                <a:solidFill>
                  <a:srgbClr val="4A2608"/>
                </a:solidFill>
                <a:latin typeface="Courier New"/>
              </a:rPr>
              <a:t>RUGRAT  ·  CLOCK IN: Solana Mobile Hackathon</a:t>
            </a:r>
          </a:p>
        </p:txBody>
      </p:sp>
      <p:sp>
        <p:nvSpPr>
          <p:cNvPr id="9" name="Rectangle 8"/>
          <p:cNvSpPr/>
          <p:nvPr/>
        </p:nvSpPr>
        <p:spPr>
          <a:xfrm>
            <a:off x="1188720" y="1691640"/>
            <a:ext cx="2249424" cy="4498848"/>
          </a:xfrm>
          <a:prstGeom prst="rect">
            <a:avLst/>
          </a:prstGeom>
          <a:solidFill>
            <a:srgbClr val="4A26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60704" y="1563624"/>
            <a:ext cx="2249424" cy="4498848"/>
          </a:xfrm>
          <a:prstGeom prst="rect">
            <a:avLst/>
          </a:prstGeom>
          <a:solidFill>
            <a:srgbClr val="141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worlds.png"/>
          <p:cNvPicPr>
            <a:picLocks noChangeAspect="1"/>
          </p:cNvPicPr>
          <p:nvPr/>
        </p:nvPicPr>
        <p:blipFill>
          <a:blip r:embed="rId3"/>
          <a:stretch>
            <a:fillRect/>
          </a:stretch>
        </p:blipFill>
        <p:spPr>
          <a:xfrm>
            <a:off x="1115568" y="1618488"/>
            <a:ext cx="2139696" cy="4389120"/>
          </a:xfrm>
          <a:prstGeom prst="rect">
            <a:avLst/>
          </a:prstGeom>
        </p:spPr>
      </p:pic>
      <p:sp>
        <p:nvSpPr>
          <p:cNvPr id="12" name="Rectangle 11"/>
          <p:cNvSpPr/>
          <p:nvPr/>
        </p:nvSpPr>
        <p:spPr>
          <a:xfrm>
            <a:off x="4023360" y="1874519"/>
            <a:ext cx="182880" cy="182880"/>
          </a:xfrm>
          <a:prstGeom prst="rect">
            <a:avLst/>
          </a:prstGeom>
          <a:solidFill>
            <a:srgbClr val="F7C53B"/>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43400" y="1783080"/>
            <a:ext cx="7269480" cy="1143000"/>
          </a:xfrm>
          <a:prstGeom prst="rect">
            <a:avLst/>
          </a:prstGeom>
          <a:noFill/>
        </p:spPr>
        <p:txBody>
          <a:bodyPr wrap="square" lIns="36576" rIns="36576" tIns="18288" bIns="18288" anchor="t">
            <a:spAutoFit/>
          </a:bodyPr>
          <a:lstStyle/>
          <a:p>
            <a:pPr algn="l">
              <a:spcAft>
                <a:spcPts val="200"/>
              </a:spcAft>
            </a:pPr>
            <a:r>
              <a:rPr sz="2200" b="1">
                <a:solidFill>
                  <a:srgbClr val="4A2608"/>
                </a:solidFill>
                <a:latin typeface="Calibri"/>
              </a:rPr>
              <a:t>Real history.</a:t>
            </a:r>
          </a:p>
          <a:p>
            <a:pPr algn="l">
              <a:spcAft>
                <a:spcPts val="0"/>
              </a:spcAft>
            </a:pPr>
            <a:r>
              <a:rPr sz="1900" b="0">
                <a:solidFill>
                  <a:srgbClr val="4A2608"/>
                </a:solidFill>
                <a:latin typeface="Calibri"/>
              </a:rPr>
              <a:t>Recorded prices, timestamps and wallet events, replayed in order. Nothing is simulated.</a:t>
            </a:r>
          </a:p>
        </p:txBody>
      </p:sp>
      <p:sp>
        <p:nvSpPr>
          <p:cNvPr id="14" name="Rectangle 13"/>
          <p:cNvSpPr/>
          <p:nvPr/>
        </p:nvSpPr>
        <p:spPr>
          <a:xfrm>
            <a:off x="4023360" y="3195320"/>
            <a:ext cx="182880" cy="182880"/>
          </a:xfrm>
          <a:prstGeom prst="rect">
            <a:avLst/>
          </a:prstGeom>
          <a:solidFill>
            <a:srgbClr val="F7C53B"/>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43400" y="3103880"/>
            <a:ext cx="7269480" cy="1143000"/>
          </a:xfrm>
          <a:prstGeom prst="rect">
            <a:avLst/>
          </a:prstGeom>
          <a:noFill/>
        </p:spPr>
        <p:txBody>
          <a:bodyPr wrap="square" lIns="36576" rIns="36576" tIns="18288" bIns="18288" anchor="t">
            <a:spAutoFit/>
          </a:bodyPr>
          <a:lstStyle/>
          <a:p>
            <a:pPr algn="l">
              <a:spcAft>
                <a:spcPts val="200"/>
              </a:spcAft>
            </a:pPr>
            <a:r>
              <a:rPr sz="2200" b="1">
                <a:solidFill>
                  <a:srgbClr val="4A2608"/>
                </a:solidFill>
                <a:latin typeface="Calibri"/>
              </a:rPr>
              <a:t>A real decision.</a:t>
            </a:r>
          </a:p>
          <a:p>
            <a:pPr algn="l">
              <a:spcAft>
                <a:spcPts val="0"/>
              </a:spcAft>
            </a:pPr>
            <a:r>
              <a:rPr sz="1900" b="0">
                <a:solidFill>
                  <a:srgbClr val="4A2608"/>
                </a:solidFill>
                <a:latin typeface="Calibri"/>
              </a:rPr>
              <a:t>Buy with 10 paper SOL, sell when you think the end is near.</a:t>
            </a:r>
          </a:p>
        </p:txBody>
      </p:sp>
      <p:sp>
        <p:nvSpPr>
          <p:cNvPr id="16" name="Rectangle 15"/>
          <p:cNvSpPr/>
          <p:nvPr/>
        </p:nvSpPr>
        <p:spPr>
          <a:xfrm>
            <a:off x="4023360" y="4516119"/>
            <a:ext cx="182880" cy="182880"/>
          </a:xfrm>
          <a:prstGeom prst="rect">
            <a:avLst/>
          </a:prstGeom>
          <a:solidFill>
            <a:srgbClr val="F7C53B"/>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43400" y="4424680"/>
            <a:ext cx="7269480" cy="1143000"/>
          </a:xfrm>
          <a:prstGeom prst="rect">
            <a:avLst/>
          </a:prstGeom>
          <a:noFill/>
        </p:spPr>
        <p:txBody>
          <a:bodyPr wrap="square" lIns="36576" rIns="36576" tIns="18288" bIns="18288" anchor="t">
            <a:spAutoFit/>
          </a:bodyPr>
          <a:lstStyle/>
          <a:p>
            <a:pPr algn="l">
              <a:spcAft>
                <a:spcPts val="200"/>
              </a:spcAft>
            </a:pPr>
            <a:r>
              <a:rPr sz="2200" b="1">
                <a:solidFill>
                  <a:srgbClr val="4A2608"/>
                </a:solidFill>
                <a:latin typeface="Calibri"/>
              </a:rPr>
              <a:t>A real verdict.</a:t>
            </a:r>
          </a:p>
          <a:p>
            <a:pPr algn="l">
              <a:spcAft>
                <a:spcPts val="0"/>
              </a:spcAft>
            </a:pPr>
            <a:r>
              <a:rPr sz="1900" b="0">
                <a:solidFill>
                  <a:srgbClr val="4A2608"/>
                </a:solidFill>
                <a:latin typeface="Calibri"/>
              </a:rPr>
              <a:t>CLEAN EXIT, LATE EXIT or RUGGED, then watch the Reveal with every tracked wallet visible.</a:t>
            </a:r>
          </a:p>
        </p:txBody>
      </p:sp>
      <p:sp>
        <p:nvSpPr>
          <p:cNvPr id="18" name="Rectangle 17"/>
          <p:cNvSpPr/>
          <p:nvPr/>
        </p:nvSpPr>
        <p:spPr>
          <a:xfrm>
            <a:off x="4023360" y="5623560"/>
            <a:ext cx="7589520" cy="640080"/>
          </a:xfrm>
          <a:prstGeom prst="rect">
            <a:avLst/>
          </a:prstGeom>
          <a:solidFill>
            <a:srgbClr val="F7C53B"/>
          </a:solidFill>
          <a:ln w="317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23360" y="5623560"/>
            <a:ext cx="7589520" cy="640080"/>
          </a:xfrm>
          <a:prstGeom prst="rect">
            <a:avLst/>
          </a:prstGeom>
          <a:noFill/>
        </p:spPr>
        <p:txBody>
          <a:bodyPr wrap="square" lIns="36576" rIns="36576" tIns="18288" bIns="18288" anchor="ctr">
            <a:spAutoFit/>
          </a:bodyPr>
          <a:lstStyle/>
          <a:p>
            <a:pPr algn="ctr">
              <a:spcAft>
                <a:spcPts val="0"/>
              </a:spcAft>
            </a:pPr>
            <a:r>
              <a:rPr sz="1900" b="1">
                <a:solidFill>
                  <a:srgbClr val="4A2608"/>
                </a:solidFill>
                <a:latin typeface="Calibri"/>
              </a:rPr>
              <a:t>One run takes about a minute to a minute and a half.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4DC"/>
        </a:solidFill>
        <a:effectLst/>
      </p:bgPr>
    </p:bg>
    <p:spTree>
      <p:nvGrpSpPr>
        <p:cNvPr id="1" name=""/>
        <p:cNvGrpSpPr/>
        <p:nvPr/>
      </p:nvGrpSpPr>
      <p:grpSpPr/>
      <p:sp>
        <p:nvSpPr>
          <p:cNvPr id="2" name="TextBox 1"/>
          <p:cNvSpPr txBox="1"/>
          <p:nvPr/>
        </p:nvSpPr>
        <p:spPr>
          <a:xfrm>
            <a:off x="548640" y="347472"/>
            <a:ext cx="11064240" cy="822960"/>
          </a:xfrm>
          <a:prstGeom prst="rect">
            <a:avLst/>
          </a:prstGeom>
          <a:noFill/>
        </p:spPr>
        <p:txBody>
          <a:bodyPr wrap="square" lIns="36576" rIns="36576" tIns="18288" bIns="18288" anchor="ctr">
            <a:spAutoFit/>
          </a:bodyPr>
          <a:lstStyle/>
          <a:p>
            <a:pPr algn="l">
              <a:spcAft>
                <a:spcPts val="0"/>
              </a:spcAft>
            </a:pPr>
            <a:r>
              <a:rPr sz="3000" b="1">
                <a:solidFill>
                  <a:srgbClr val="4A2608"/>
                </a:solidFill>
                <a:latin typeface="Courier New"/>
              </a:rPr>
              <a:t>Real history in, one clock, one verdict out</a:t>
            </a:r>
          </a:p>
        </p:txBody>
      </p:sp>
      <p:sp>
        <p:nvSpPr>
          <p:cNvPr id="3" name="Rectangle 2"/>
          <p:cNvSpPr/>
          <p:nvPr/>
        </p:nvSpPr>
        <p:spPr>
          <a:xfrm>
            <a:off x="585216" y="1188720"/>
            <a:ext cx="201168" cy="201168"/>
          </a:xfrm>
          <a:prstGeom prst="rect">
            <a:avLst/>
          </a:prstGeom>
          <a:solidFill>
            <a:srgbClr val="F7C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9536" y="1188720"/>
            <a:ext cx="201168" cy="201168"/>
          </a:xfrm>
          <a:prstGeom prst="rect">
            <a:avLst/>
          </a:prstGeom>
          <a:solidFill>
            <a:srgbClr val="F08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33856" y="1188720"/>
            <a:ext cx="201168" cy="201168"/>
          </a:xfrm>
          <a:prstGeom prst="rect">
            <a:avLst/>
          </a:prstGeom>
          <a:solidFill>
            <a:srgbClr val="F7C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08176" y="1188720"/>
            <a:ext cx="201168" cy="201168"/>
          </a:xfrm>
          <a:prstGeom prst="rect">
            <a:avLst/>
          </a:prstGeom>
          <a:solidFill>
            <a:srgbClr val="F08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46520"/>
            <a:ext cx="640080" cy="274320"/>
          </a:xfrm>
          <a:prstGeom prst="rect">
            <a:avLst/>
          </a:prstGeom>
          <a:noFill/>
        </p:spPr>
        <p:txBody>
          <a:bodyPr wrap="square" lIns="36576" rIns="36576" tIns="18288" bIns="18288" anchor="t">
            <a:spAutoFit/>
          </a:bodyPr>
          <a:lstStyle/>
          <a:p>
            <a:pPr algn="r">
              <a:spcAft>
                <a:spcPts val="0"/>
              </a:spcAft>
            </a:pPr>
            <a:r>
              <a:rPr sz="1100" b="1">
                <a:solidFill>
                  <a:srgbClr val="4A2608"/>
                </a:solidFill>
                <a:latin typeface="Courier New"/>
              </a:rPr>
              <a:t>4</a:t>
            </a:r>
          </a:p>
        </p:txBody>
      </p:sp>
      <p:sp>
        <p:nvSpPr>
          <p:cNvPr id="8" name="TextBox 7"/>
          <p:cNvSpPr txBox="1"/>
          <p:nvPr/>
        </p:nvSpPr>
        <p:spPr>
          <a:xfrm>
            <a:off x="548640" y="6446520"/>
            <a:ext cx="7315200" cy="274320"/>
          </a:xfrm>
          <a:prstGeom prst="rect">
            <a:avLst/>
          </a:prstGeom>
          <a:noFill/>
        </p:spPr>
        <p:txBody>
          <a:bodyPr wrap="square" lIns="36576" rIns="36576" tIns="18288" bIns="18288" anchor="t">
            <a:spAutoFit/>
          </a:bodyPr>
          <a:lstStyle/>
          <a:p>
            <a:pPr algn="l">
              <a:spcAft>
                <a:spcPts val="0"/>
              </a:spcAft>
            </a:pPr>
            <a:r>
              <a:rPr sz="1100" b="0">
                <a:solidFill>
                  <a:srgbClr val="4A2608"/>
                </a:solidFill>
                <a:latin typeface="Courier New"/>
              </a:rPr>
              <a:t>RUGRAT  ·  CLOCK IN: Solana Mobile Hackathon</a:t>
            </a:r>
          </a:p>
        </p:txBody>
      </p:sp>
      <p:sp>
        <p:nvSpPr>
          <p:cNvPr id="9" name="Rectangle 8"/>
          <p:cNvSpPr/>
          <p:nvPr/>
        </p:nvSpPr>
        <p:spPr>
          <a:xfrm>
            <a:off x="612647" y="1709928"/>
            <a:ext cx="2011680" cy="1417320"/>
          </a:xfrm>
          <a:prstGeom prst="rect">
            <a:avLst/>
          </a:prstGeom>
          <a:solidFill>
            <a:srgbClr val="4A26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45920"/>
            <a:ext cx="2011680" cy="1417320"/>
          </a:xfrm>
          <a:prstGeom prst="rect">
            <a:avLst/>
          </a:prstGeom>
          <a:solidFill>
            <a:srgbClr val="F7C53B"/>
          </a:solidFill>
          <a:ln w="317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691640"/>
            <a:ext cx="1865376" cy="365760"/>
          </a:xfrm>
          <a:prstGeom prst="rect">
            <a:avLst/>
          </a:prstGeom>
          <a:noFill/>
        </p:spPr>
        <p:txBody>
          <a:bodyPr wrap="square" lIns="36576" rIns="36576" tIns="18288" bIns="18288" anchor="t">
            <a:spAutoFit/>
          </a:bodyPr>
          <a:lstStyle/>
          <a:p>
            <a:pPr algn="l">
              <a:spcAft>
                <a:spcPts val="0"/>
              </a:spcAft>
            </a:pPr>
            <a:r>
              <a:rPr sz="1200" b="1">
                <a:solidFill>
                  <a:srgbClr val="4A2608"/>
                </a:solidFill>
                <a:latin typeface="Courier New"/>
              </a:rPr>
              <a:t>1 Recorded data</a:t>
            </a:r>
          </a:p>
        </p:txBody>
      </p:sp>
      <p:sp>
        <p:nvSpPr>
          <p:cNvPr id="12" name="TextBox 11"/>
          <p:cNvSpPr txBox="1"/>
          <p:nvPr/>
        </p:nvSpPr>
        <p:spPr>
          <a:xfrm>
            <a:off x="621792" y="2103120"/>
            <a:ext cx="1865376" cy="914400"/>
          </a:xfrm>
          <a:prstGeom prst="rect">
            <a:avLst/>
          </a:prstGeom>
          <a:noFill/>
        </p:spPr>
        <p:txBody>
          <a:bodyPr wrap="square" lIns="36576" rIns="36576" tIns="18288" bIns="18288" anchor="t">
            <a:spAutoFit/>
          </a:bodyPr>
          <a:lstStyle/>
          <a:p>
            <a:pPr algn="l">
              <a:spcAft>
                <a:spcPts val="0"/>
              </a:spcAft>
            </a:pPr>
            <a:r>
              <a:rPr sz="1400" b="0">
                <a:solidFill>
                  <a:srgbClr val="4A2608"/>
                </a:solidFill>
                <a:latin typeface="Calibri"/>
              </a:rPr>
              <a:t>Price candles and wallet events from public APIs</a:t>
            </a:r>
          </a:p>
        </p:txBody>
      </p:sp>
      <p:sp>
        <p:nvSpPr>
          <p:cNvPr id="13" name="Rectangle 12"/>
          <p:cNvSpPr/>
          <p:nvPr/>
        </p:nvSpPr>
        <p:spPr>
          <a:xfrm>
            <a:off x="2862072" y="1709928"/>
            <a:ext cx="2011680" cy="1417320"/>
          </a:xfrm>
          <a:prstGeom prst="rect">
            <a:avLst/>
          </a:prstGeom>
          <a:solidFill>
            <a:srgbClr val="4A26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98064" y="1645920"/>
            <a:ext cx="2011680" cy="1417320"/>
          </a:xfrm>
          <a:prstGeom prst="rect">
            <a:avLst/>
          </a:prstGeom>
          <a:solidFill>
            <a:srgbClr val="F7C53B"/>
          </a:solidFill>
          <a:ln w="317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71216" y="1691640"/>
            <a:ext cx="1865376" cy="365760"/>
          </a:xfrm>
          <a:prstGeom prst="rect">
            <a:avLst/>
          </a:prstGeom>
          <a:noFill/>
        </p:spPr>
        <p:txBody>
          <a:bodyPr wrap="square" lIns="36576" rIns="36576" tIns="18288" bIns="18288" anchor="t">
            <a:spAutoFit/>
          </a:bodyPr>
          <a:lstStyle/>
          <a:p>
            <a:pPr algn="l">
              <a:spcAft>
                <a:spcPts val="0"/>
              </a:spcAft>
            </a:pPr>
            <a:r>
              <a:rPr sz="1200" b="1">
                <a:solidFill>
                  <a:srgbClr val="4A2608"/>
                </a:solidFill>
                <a:latin typeface="Courier New"/>
              </a:rPr>
              <a:t>2 One replay clock</a:t>
            </a:r>
          </a:p>
        </p:txBody>
      </p:sp>
      <p:sp>
        <p:nvSpPr>
          <p:cNvPr id="16" name="TextBox 15"/>
          <p:cNvSpPr txBox="1"/>
          <p:nvPr/>
        </p:nvSpPr>
        <p:spPr>
          <a:xfrm>
            <a:off x="2871216" y="2103120"/>
            <a:ext cx="1865376" cy="914400"/>
          </a:xfrm>
          <a:prstGeom prst="rect">
            <a:avLst/>
          </a:prstGeom>
          <a:noFill/>
        </p:spPr>
        <p:txBody>
          <a:bodyPr wrap="square" lIns="36576" rIns="36576" tIns="18288" bIns="18288" anchor="t">
            <a:spAutoFit/>
          </a:bodyPr>
          <a:lstStyle/>
          <a:p>
            <a:pPr algn="l">
              <a:spcAft>
                <a:spcPts val="0"/>
              </a:spcAft>
            </a:pPr>
            <a:r>
              <a:rPr sz="1400" b="0">
                <a:solidFill>
                  <a:srgbClr val="4A2608"/>
                </a:solidFill>
                <a:latin typeface="Calibri"/>
              </a:rPr>
              <a:t>Price, terrain, events and sound all follow it</a:t>
            </a:r>
          </a:p>
        </p:txBody>
      </p:sp>
      <p:sp>
        <p:nvSpPr>
          <p:cNvPr id="17" name="Rectangle 16"/>
          <p:cNvSpPr/>
          <p:nvPr/>
        </p:nvSpPr>
        <p:spPr>
          <a:xfrm>
            <a:off x="5111496" y="1709928"/>
            <a:ext cx="2011680" cy="1417320"/>
          </a:xfrm>
          <a:prstGeom prst="rect">
            <a:avLst/>
          </a:prstGeom>
          <a:solidFill>
            <a:srgbClr val="4A26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47488" y="1645920"/>
            <a:ext cx="2011680" cy="1417320"/>
          </a:xfrm>
          <a:prstGeom prst="rect">
            <a:avLst/>
          </a:prstGeom>
          <a:solidFill>
            <a:srgbClr val="F7C53B"/>
          </a:solidFill>
          <a:ln w="317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0640" y="1691640"/>
            <a:ext cx="1865376" cy="365760"/>
          </a:xfrm>
          <a:prstGeom prst="rect">
            <a:avLst/>
          </a:prstGeom>
          <a:noFill/>
        </p:spPr>
        <p:txBody>
          <a:bodyPr wrap="square" lIns="36576" rIns="36576" tIns="18288" bIns="18288" anchor="t">
            <a:spAutoFit/>
          </a:bodyPr>
          <a:lstStyle/>
          <a:p>
            <a:pPr algn="l">
              <a:spcAft>
                <a:spcPts val="0"/>
              </a:spcAft>
            </a:pPr>
            <a:r>
              <a:rPr sz="1200" b="1">
                <a:solidFill>
                  <a:srgbClr val="4A2608"/>
                </a:solidFill>
                <a:latin typeface="Courier New"/>
              </a:rPr>
              <a:t>3 Terrain = chart</a:t>
            </a:r>
          </a:p>
        </p:txBody>
      </p:sp>
      <p:sp>
        <p:nvSpPr>
          <p:cNvPr id="20" name="TextBox 19"/>
          <p:cNvSpPr txBox="1"/>
          <p:nvPr/>
        </p:nvSpPr>
        <p:spPr>
          <a:xfrm>
            <a:off x="5120640" y="2103120"/>
            <a:ext cx="1865376" cy="914400"/>
          </a:xfrm>
          <a:prstGeom prst="rect">
            <a:avLst/>
          </a:prstGeom>
          <a:noFill/>
        </p:spPr>
        <p:txBody>
          <a:bodyPr wrap="square" lIns="36576" rIns="36576" tIns="18288" bIns="18288" anchor="t">
            <a:spAutoFit/>
          </a:bodyPr>
          <a:lstStyle/>
          <a:p>
            <a:pPr algn="l">
              <a:spcAft>
                <a:spcPts val="0"/>
              </a:spcAft>
            </a:pPr>
            <a:r>
              <a:rPr sz="1400" b="0">
                <a:solidFill>
                  <a:srgbClr val="4A2608"/>
                </a:solidFill>
                <a:latin typeface="Calibri"/>
              </a:rPr>
              <a:t>Each block column is a real price step, log scale</a:t>
            </a:r>
          </a:p>
        </p:txBody>
      </p:sp>
      <p:sp>
        <p:nvSpPr>
          <p:cNvPr id="21" name="Rectangle 20"/>
          <p:cNvSpPr/>
          <p:nvPr/>
        </p:nvSpPr>
        <p:spPr>
          <a:xfrm>
            <a:off x="7360919" y="1709928"/>
            <a:ext cx="2011680" cy="1417320"/>
          </a:xfrm>
          <a:prstGeom prst="rect">
            <a:avLst/>
          </a:prstGeom>
          <a:solidFill>
            <a:srgbClr val="4A26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96912" y="1645920"/>
            <a:ext cx="2011680" cy="1417320"/>
          </a:xfrm>
          <a:prstGeom prst="rect">
            <a:avLst/>
          </a:prstGeom>
          <a:solidFill>
            <a:srgbClr val="F7C53B"/>
          </a:solidFill>
          <a:ln w="317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70063" y="1691640"/>
            <a:ext cx="1865376" cy="365760"/>
          </a:xfrm>
          <a:prstGeom prst="rect">
            <a:avLst/>
          </a:prstGeom>
          <a:noFill/>
        </p:spPr>
        <p:txBody>
          <a:bodyPr wrap="square" lIns="36576" rIns="36576" tIns="18288" bIns="18288" anchor="t">
            <a:spAutoFit/>
          </a:bodyPr>
          <a:lstStyle/>
          <a:p>
            <a:pPr algn="l">
              <a:spcAft>
                <a:spcPts val="0"/>
              </a:spcAft>
            </a:pPr>
            <a:r>
              <a:rPr sz="1200" b="1">
                <a:solidFill>
                  <a:srgbClr val="4A2608"/>
                </a:solidFill>
                <a:latin typeface="Courier New"/>
              </a:rPr>
              <a:t>4 Verdict + score</a:t>
            </a:r>
          </a:p>
        </p:txBody>
      </p:sp>
      <p:sp>
        <p:nvSpPr>
          <p:cNvPr id="24" name="TextBox 23"/>
          <p:cNvSpPr txBox="1"/>
          <p:nvPr/>
        </p:nvSpPr>
        <p:spPr>
          <a:xfrm>
            <a:off x="7370063" y="2103120"/>
            <a:ext cx="1865376" cy="914400"/>
          </a:xfrm>
          <a:prstGeom prst="rect">
            <a:avLst/>
          </a:prstGeom>
          <a:noFill/>
        </p:spPr>
        <p:txBody>
          <a:bodyPr wrap="square" lIns="36576" rIns="36576" tIns="18288" bIns="18288" anchor="t">
            <a:spAutoFit/>
          </a:bodyPr>
          <a:lstStyle/>
          <a:p>
            <a:pPr algn="l">
              <a:spcAft>
                <a:spcPts val="0"/>
              </a:spcAft>
            </a:pPr>
            <a:r>
              <a:rPr sz="1400" b="0">
                <a:solidFill>
                  <a:srgbClr val="4A2608"/>
                </a:solidFill>
                <a:latin typeface="Calibri"/>
              </a:rPr>
              <a:t>CLEAN / LATE / RUGGED, skill score 0 to 1000</a:t>
            </a:r>
          </a:p>
        </p:txBody>
      </p:sp>
      <p:sp>
        <p:nvSpPr>
          <p:cNvPr id="25" name="Rectangle 24"/>
          <p:cNvSpPr/>
          <p:nvPr/>
        </p:nvSpPr>
        <p:spPr>
          <a:xfrm>
            <a:off x="9610344" y="1709928"/>
            <a:ext cx="2011680" cy="1417320"/>
          </a:xfrm>
          <a:prstGeom prst="rect">
            <a:avLst/>
          </a:prstGeom>
          <a:solidFill>
            <a:srgbClr val="4A26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546336" y="1645920"/>
            <a:ext cx="2011680" cy="1417320"/>
          </a:xfrm>
          <a:prstGeom prst="rect">
            <a:avLst/>
          </a:prstGeom>
          <a:solidFill>
            <a:srgbClr val="8FD6FF"/>
          </a:solidFill>
          <a:ln w="317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19488" y="1691640"/>
            <a:ext cx="1865376" cy="365760"/>
          </a:xfrm>
          <a:prstGeom prst="rect">
            <a:avLst/>
          </a:prstGeom>
          <a:noFill/>
        </p:spPr>
        <p:txBody>
          <a:bodyPr wrap="square" lIns="36576" rIns="36576" tIns="18288" bIns="18288" anchor="t">
            <a:spAutoFit/>
          </a:bodyPr>
          <a:lstStyle/>
          <a:p>
            <a:pPr algn="l">
              <a:spcAft>
                <a:spcPts val="0"/>
              </a:spcAft>
            </a:pPr>
            <a:r>
              <a:rPr sz="1200" b="1">
                <a:solidFill>
                  <a:srgbClr val="4A2608"/>
                </a:solidFill>
                <a:latin typeface="Courier New"/>
              </a:rPr>
              <a:t>5 Optional onchain</a:t>
            </a:r>
          </a:p>
        </p:txBody>
      </p:sp>
      <p:sp>
        <p:nvSpPr>
          <p:cNvPr id="28" name="TextBox 27"/>
          <p:cNvSpPr txBox="1"/>
          <p:nvPr/>
        </p:nvSpPr>
        <p:spPr>
          <a:xfrm>
            <a:off x="9619488" y="2103120"/>
            <a:ext cx="1865376" cy="914400"/>
          </a:xfrm>
          <a:prstGeom prst="rect">
            <a:avLst/>
          </a:prstGeom>
          <a:noFill/>
        </p:spPr>
        <p:txBody>
          <a:bodyPr wrap="square" lIns="36576" rIns="36576" tIns="18288" bIns="18288" anchor="t">
            <a:spAutoFit/>
          </a:bodyPr>
          <a:lstStyle/>
          <a:p>
            <a:pPr algn="l">
              <a:spcAft>
                <a:spcPts val="0"/>
              </a:spcAft>
            </a:pPr>
            <a:r>
              <a:rPr sz="1400" b="0">
                <a:solidFill>
                  <a:srgbClr val="4A2608"/>
                </a:solidFill>
                <a:latin typeface="Calibri"/>
              </a:rPr>
              <a:t>Signed score memo and soulbound badge</a:t>
            </a:r>
          </a:p>
        </p:txBody>
      </p:sp>
      <p:sp>
        <p:nvSpPr>
          <p:cNvPr id="29" name="Rectangle 28"/>
          <p:cNvSpPr/>
          <p:nvPr/>
        </p:nvSpPr>
        <p:spPr>
          <a:xfrm>
            <a:off x="731519" y="3474720"/>
            <a:ext cx="2712060" cy="2578608"/>
          </a:xfrm>
          <a:prstGeom prst="rect">
            <a:avLst/>
          </a:prstGeom>
          <a:solidFill>
            <a:srgbClr val="4A26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3503" y="3346704"/>
            <a:ext cx="2712060" cy="2578608"/>
          </a:xfrm>
          <a:prstGeom prst="rect">
            <a:avLst/>
          </a:prstGeom>
          <a:solidFill>
            <a:srgbClr val="141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g1.png"/>
          <p:cNvPicPr>
            <a:picLocks noChangeAspect="1"/>
          </p:cNvPicPr>
          <p:nvPr/>
        </p:nvPicPr>
        <p:blipFill>
          <a:blip r:embed="rId3"/>
          <a:stretch>
            <a:fillRect/>
          </a:stretch>
        </p:blipFill>
        <p:spPr>
          <a:xfrm>
            <a:off x="658368" y="3401568"/>
            <a:ext cx="2602332" cy="2468880"/>
          </a:xfrm>
          <a:prstGeom prst="rect">
            <a:avLst/>
          </a:prstGeom>
        </p:spPr>
      </p:pic>
      <p:sp>
        <p:nvSpPr>
          <p:cNvPr id="32" name="Rectangle 31"/>
          <p:cNvSpPr/>
          <p:nvPr/>
        </p:nvSpPr>
        <p:spPr>
          <a:xfrm>
            <a:off x="4160520" y="3474720"/>
            <a:ext cx="2712060" cy="2578608"/>
          </a:xfrm>
          <a:prstGeom prst="rect">
            <a:avLst/>
          </a:prstGeom>
          <a:solidFill>
            <a:srgbClr val="4A26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032504" y="3346704"/>
            <a:ext cx="2712060" cy="2578608"/>
          </a:xfrm>
          <a:prstGeom prst="rect">
            <a:avLst/>
          </a:prstGeom>
          <a:solidFill>
            <a:srgbClr val="141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g2.png"/>
          <p:cNvPicPr>
            <a:picLocks noChangeAspect="1"/>
          </p:cNvPicPr>
          <p:nvPr/>
        </p:nvPicPr>
        <p:blipFill>
          <a:blip r:embed="rId4"/>
          <a:stretch>
            <a:fillRect/>
          </a:stretch>
        </p:blipFill>
        <p:spPr>
          <a:xfrm>
            <a:off x="4087368" y="3401568"/>
            <a:ext cx="2602332" cy="2468880"/>
          </a:xfrm>
          <a:prstGeom prst="rect">
            <a:avLst/>
          </a:prstGeom>
        </p:spPr>
      </p:pic>
      <p:sp>
        <p:nvSpPr>
          <p:cNvPr id="35" name="TextBox 34"/>
          <p:cNvSpPr txBox="1"/>
          <p:nvPr/>
        </p:nvSpPr>
        <p:spPr>
          <a:xfrm>
            <a:off x="640080" y="6126480"/>
            <a:ext cx="2651760" cy="365760"/>
          </a:xfrm>
          <a:prstGeom prst="rect">
            <a:avLst/>
          </a:prstGeom>
          <a:noFill/>
        </p:spPr>
        <p:txBody>
          <a:bodyPr wrap="square" lIns="36576" rIns="36576" tIns="18288" bIns="18288" anchor="t">
            <a:spAutoFit/>
          </a:bodyPr>
          <a:lstStyle/>
          <a:p>
            <a:pPr algn="ctr">
              <a:spcAft>
                <a:spcPts val="0"/>
              </a:spcAft>
            </a:pPr>
            <a:r>
              <a:rPr sz="1300" b="0">
                <a:solidFill>
                  <a:srgbClr val="4A2608"/>
                </a:solidFill>
                <a:latin typeface="Calibri"/>
              </a:rPr>
              <a:t>Climb: the price is rising</a:t>
            </a:r>
          </a:p>
        </p:txBody>
      </p:sp>
      <p:sp>
        <p:nvSpPr>
          <p:cNvPr id="36" name="TextBox 35"/>
          <p:cNvSpPr txBox="1"/>
          <p:nvPr/>
        </p:nvSpPr>
        <p:spPr>
          <a:xfrm>
            <a:off x="4069080" y="6126480"/>
            <a:ext cx="2651760" cy="365760"/>
          </a:xfrm>
          <a:prstGeom prst="rect">
            <a:avLst/>
          </a:prstGeom>
          <a:noFill/>
        </p:spPr>
        <p:txBody>
          <a:bodyPr wrap="square" lIns="36576" rIns="36576" tIns="18288" bIns="18288" anchor="t">
            <a:spAutoFit/>
          </a:bodyPr>
          <a:lstStyle/>
          <a:p>
            <a:pPr algn="ctr">
              <a:spcAft>
                <a:spcPts val="0"/>
              </a:spcAft>
            </a:pPr>
            <a:r>
              <a:rPr sz="1300" b="0">
                <a:solidFill>
                  <a:srgbClr val="4A2608"/>
                </a:solidFill>
                <a:latin typeface="Calibri"/>
              </a:rPr>
              <a:t>Collapse: the ground gives way</a:t>
            </a:r>
          </a:p>
        </p:txBody>
      </p:sp>
      <p:sp>
        <p:nvSpPr>
          <p:cNvPr id="37" name="Rectangle 36"/>
          <p:cNvSpPr/>
          <p:nvPr/>
        </p:nvSpPr>
        <p:spPr>
          <a:xfrm>
            <a:off x="7498079" y="3611880"/>
            <a:ext cx="182880" cy="182880"/>
          </a:xfrm>
          <a:prstGeom prst="rect">
            <a:avLst/>
          </a:prstGeom>
          <a:solidFill>
            <a:srgbClr val="F7C53B"/>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18119" y="3520440"/>
            <a:ext cx="3794760" cy="1188720"/>
          </a:xfrm>
          <a:prstGeom prst="rect">
            <a:avLst/>
          </a:prstGeom>
          <a:noFill/>
        </p:spPr>
        <p:txBody>
          <a:bodyPr wrap="square" lIns="36576" rIns="36576" tIns="18288" bIns="18288" anchor="t">
            <a:spAutoFit/>
          </a:bodyPr>
          <a:lstStyle/>
          <a:p>
            <a:pPr algn="l">
              <a:spcAft>
                <a:spcPts val="200"/>
              </a:spcAft>
            </a:pPr>
            <a:r>
              <a:rPr sz="1900" b="1">
                <a:solidFill>
                  <a:srgbClr val="4A2608"/>
                </a:solidFill>
                <a:latin typeface="Calibri"/>
              </a:rPr>
              <a:t>Deterministic</a:t>
            </a:r>
          </a:p>
          <a:p>
            <a:pPr algn="l">
              <a:spcAft>
                <a:spcPts val="0"/>
              </a:spcAft>
            </a:pPr>
            <a:r>
              <a:rPr sz="1600" b="0">
                <a:solidFill>
                  <a:srgbClr val="4A2608"/>
                </a:solidFill>
                <a:latin typeface="Calibri"/>
              </a:rPr>
              <a:t>Same decisions, same result.</a:t>
            </a:r>
          </a:p>
        </p:txBody>
      </p:sp>
      <p:sp>
        <p:nvSpPr>
          <p:cNvPr id="39" name="Rectangle 38"/>
          <p:cNvSpPr/>
          <p:nvPr/>
        </p:nvSpPr>
        <p:spPr>
          <a:xfrm>
            <a:off x="7498079" y="4927600"/>
            <a:ext cx="182880" cy="182880"/>
          </a:xfrm>
          <a:prstGeom prst="rect">
            <a:avLst/>
          </a:prstGeom>
          <a:solidFill>
            <a:srgbClr val="F7C53B"/>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818119" y="4836160"/>
            <a:ext cx="3794760" cy="1188720"/>
          </a:xfrm>
          <a:prstGeom prst="rect">
            <a:avLst/>
          </a:prstGeom>
          <a:noFill/>
        </p:spPr>
        <p:txBody>
          <a:bodyPr wrap="square" lIns="36576" rIns="36576" tIns="18288" bIns="18288" anchor="t">
            <a:spAutoFit/>
          </a:bodyPr>
          <a:lstStyle/>
          <a:p>
            <a:pPr algn="l">
              <a:spcAft>
                <a:spcPts val="200"/>
              </a:spcAft>
            </a:pPr>
            <a:r>
              <a:rPr sz="1900" b="1">
                <a:solidFill>
                  <a:srgbClr val="4A2608"/>
                </a:solidFill>
                <a:latin typeface="Calibri"/>
              </a:rPr>
              <a:t>Fair</a:t>
            </a:r>
          </a:p>
          <a:p>
            <a:pPr algn="l">
              <a:spcAft>
                <a:spcPts val="0"/>
              </a:spcAft>
            </a:pPr>
            <a:r>
              <a:rPr sz="1600" b="0">
                <a:solidFill>
                  <a:srgbClr val="4A2608"/>
                </a:solidFill>
                <a:latin typeface="Calibri"/>
              </a:rPr>
              <a:t>Speed, frame rate and paper profit never change a score.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4DC"/>
        </a:solidFill>
        <a:effectLst/>
      </p:bgPr>
    </p:bg>
    <p:spTree>
      <p:nvGrpSpPr>
        <p:cNvPr id="1" name=""/>
        <p:cNvGrpSpPr/>
        <p:nvPr/>
      </p:nvGrpSpPr>
      <p:grpSpPr/>
      <p:sp>
        <p:nvSpPr>
          <p:cNvPr id="2" name="TextBox 1"/>
          <p:cNvSpPr txBox="1"/>
          <p:nvPr/>
        </p:nvSpPr>
        <p:spPr>
          <a:xfrm>
            <a:off x="548640" y="347472"/>
            <a:ext cx="11064240" cy="822960"/>
          </a:xfrm>
          <a:prstGeom prst="rect">
            <a:avLst/>
          </a:prstGeom>
          <a:noFill/>
        </p:spPr>
        <p:txBody>
          <a:bodyPr wrap="square" lIns="36576" rIns="36576" tIns="18288" bIns="18288" anchor="ctr">
            <a:spAutoFit/>
          </a:bodyPr>
          <a:lstStyle/>
          <a:p>
            <a:pPr algn="l">
              <a:spcAft>
                <a:spcPts val="0"/>
              </a:spcAft>
            </a:pPr>
            <a:r>
              <a:rPr sz="3000" b="1">
                <a:solidFill>
                  <a:srgbClr val="4A2608"/>
                </a:solidFill>
                <a:latin typeface="Courier New"/>
              </a:rPr>
              <a:t>A village where every building is a real rug</a:t>
            </a:r>
          </a:p>
        </p:txBody>
      </p:sp>
      <p:sp>
        <p:nvSpPr>
          <p:cNvPr id="3" name="Rectangle 2"/>
          <p:cNvSpPr/>
          <p:nvPr/>
        </p:nvSpPr>
        <p:spPr>
          <a:xfrm>
            <a:off x="585216" y="1188720"/>
            <a:ext cx="201168" cy="201168"/>
          </a:xfrm>
          <a:prstGeom prst="rect">
            <a:avLst/>
          </a:prstGeom>
          <a:solidFill>
            <a:srgbClr val="F7C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9536" y="1188720"/>
            <a:ext cx="201168" cy="201168"/>
          </a:xfrm>
          <a:prstGeom prst="rect">
            <a:avLst/>
          </a:prstGeom>
          <a:solidFill>
            <a:srgbClr val="F08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33856" y="1188720"/>
            <a:ext cx="201168" cy="201168"/>
          </a:xfrm>
          <a:prstGeom prst="rect">
            <a:avLst/>
          </a:prstGeom>
          <a:solidFill>
            <a:srgbClr val="F7C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08176" y="1188720"/>
            <a:ext cx="201168" cy="201168"/>
          </a:xfrm>
          <a:prstGeom prst="rect">
            <a:avLst/>
          </a:prstGeom>
          <a:solidFill>
            <a:srgbClr val="F08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46520"/>
            <a:ext cx="640080" cy="274320"/>
          </a:xfrm>
          <a:prstGeom prst="rect">
            <a:avLst/>
          </a:prstGeom>
          <a:noFill/>
        </p:spPr>
        <p:txBody>
          <a:bodyPr wrap="square" lIns="36576" rIns="36576" tIns="18288" bIns="18288" anchor="t">
            <a:spAutoFit/>
          </a:bodyPr>
          <a:lstStyle/>
          <a:p>
            <a:pPr algn="r">
              <a:spcAft>
                <a:spcPts val="0"/>
              </a:spcAft>
            </a:pPr>
            <a:r>
              <a:rPr sz="1100" b="1">
                <a:solidFill>
                  <a:srgbClr val="4A2608"/>
                </a:solidFill>
                <a:latin typeface="Courier New"/>
              </a:rPr>
              <a:t>5</a:t>
            </a:r>
          </a:p>
        </p:txBody>
      </p:sp>
      <p:sp>
        <p:nvSpPr>
          <p:cNvPr id="8" name="TextBox 7"/>
          <p:cNvSpPr txBox="1"/>
          <p:nvPr/>
        </p:nvSpPr>
        <p:spPr>
          <a:xfrm>
            <a:off x="548640" y="6446520"/>
            <a:ext cx="7315200" cy="274320"/>
          </a:xfrm>
          <a:prstGeom prst="rect">
            <a:avLst/>
          </a:prstGeom>
          <a:noFill/>
        </p:spPr>
        <p:txBody>
          <a:bodyPr wrap="square" lIns="36576" rIns="36576" tIns="18288" bIns="18288" anchor="t">
            <a:spAutoFit/>
          </a:bodyPr>
          <a:lstStyle/>
          <a:p>
            <a:pPr algn="l">
              <a:spcAft>
                <a:spcPts val="0"/>
              </a:spcAft>
            </a:pPr>
            <a:r>
              <a:rPr sz="1100" b="0">
                <a:solidFill>
                  <a:srgbClr val="4A2608"/>
                </a:solidFill>
                <a:latin typeface="Courier New"/>
              </a:rPr>
              <a:t>RUGRAT  ·  CLOCK IN: Solana Mobile Hackathon</a:t>
            </a:r>
          </a:p>
        </p:txBody>
      </p:sp>
      <p:sp>
        <p:nvSpPr>
          <p:cNvPr id="9" name="Rectangle 8"/>
          <p:cNvSpPr/>
          <p:nvPr/>
        </p:nvSpPr>
        <p:spPr>
          <a:xfrm>
            <a:off x="731519" y="1783080"/>
            <a:ext cx="2071116" cy="4133088"/>
          </a:xfrm>
          <a:prstGeom prst="rect">
            <a:avLst/>
          </a:prstGeom>
          <a:solidFill>
            <a:srgbClr val="4A26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3503" y="1655064"/>
            <a:ext cx="2071116" cy="4133088"/>
          </a:xfrm>
          <a:prstGeom prst="rect">
            <a:avLst/>
          </a:prstGeom>
          <a:solidFill>
            <a:srgbClr val="141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home.png"/>
          <p:cNvPicPr>
            <a:picLocks noChangeAspect="1"/>
          </p:cNvPicPr>
          <p:nvPr/>
        </p:nvPicPr>
        <p:blipFill>
          <a:blip r:embed="rId3"/>
          <a:stretch>
            <a:fillRect/>
          </a:stretch>
        </p:blipFill>
        <p:spPr>
          <a:xfrm>
            <a:off x="658368" y="1709928"/>
            <a:ext cx="1961388" cy="4023360"/>
          </a:xfrm>
          <a:prstGeom prst="rect">
            <a:avLst/>
          </a:prstGeom>
        </p:spPr>
      </p:pic>
      <p:sp>
        <p:nvSpPr>
          <p:cNvPr id="12" name="TextBox 11"/>
          <p:cNvSpPr txBox="1"/>
          <p:nvPr/>
        </p:nvSpPr>
        <p:spPr>
          <a:xfrm>
            <a:off x="457199" y="6016752"/>
            <a:ext cx="2468880" cy="365760"/>
          </a:xfrm>
          <a:prstGeom prst="rect">
            <a:avLst/>
          </a:prstGeom>
          <a:noFill/>
        </p:spPr>
        <p:txBody>
          <a:bodyPr wrap="square" lIns="36576" rIns="36576" tIns="18288" bIns="18288" anchor="t">
            <a:spAutoFit/>
          </a:bodyPr>
          <a:lstStyle/>
          <a:p>
            <a:pPr algn="ctr">
              <a:spcAft>
                <a:spcPts val="0"/>
              </a:spcAft>
            </a:pPr>
            <a:r>
              <a:rPr sz="1300" b="0">
                <a:solidFill>
                  <a:srgbClr val="4A2608"/>
                </a:solidFill>
                <a:latin typeface="Calibri"/>
              </a:rPr>
              <a:t>Home: the village gate</a:t>
            </a:r>
          </a:p>
        </p:txBody>
      </p:sp>
      <p:sp>
        <p:nvSpPr>
          <p:cNvPr id="13" name="Rectangle 12"/>
          <p:cNvSpPr/>
          <p:nvPr/>
        </p:nvSpPr>
        <p:spPr>
          <a:xfrm>
            <a:off x="3337560" y="1783080"/>
            <a:ext cx="2071116" cy="4133088"/>
          </a:xfrm>
          <a:prstGeom prst="rect">
            <a:avLst/>
          </a:prstGeom>
          <a:solidFill>
            <a:srgbClr val="4A26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09544" y="1655064"/>
            <a:ext cx="2071116" cy="4133088"/>
          </a:xfrm>
          <a:prstGeom prst="rect">
            <a:avLst/>
          </a:prstGeom>
          <a:solidFill>
            <a:srgbClr val="141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worlds.png"/>
          <p:cNvPicPr>
            <a:picLocks noChangeAspect="1"/>
          </p:cNvPicPr>
          <p:nvPr/>
        </p:nvPicPr>
        <p:blipFill>
          <a:blip r:embed="rId4"/>
          <a:stretch>
            <a:fillRect/>
          </a:stretch>
        </p:blipFill>
        <p:spPr>
          <a:xfrm>
            <a:off x="3264408" y="1709928"/>
            <a:ext cx="1961388" cy="4023360"/>
          </a:xfrm>
          <a:prstGeom prst="rect">
            <a:avLst/>
          </a:prstGeom>
        </p:spPr>
      </p:pic>
      <p:sp>
        <p:nvSpPr>
          <p:cNvPr id="16" name="TextBox 15"/>
          <p:cNvSpPr txBox="1"/>
          <p:nvPr/>
        </p:nvSpPr>
        <p:spPr>
          <a:xfrm>
            <a:off x="3063239" y="6016752"/>
            <a:ext cx="2468880" cy="365760"/>
          </a:xfrm>
          <a:prstGeom prst="rect">
            <a:avLst/>
          </a:prstGeom>
          <a:noFill/>
        </p:spPr>
        <p:txBody>
          <a:bodyPr wrap="square" lIns="36576" rIns="36576" tIns="18288" bIns="18288" anchor="t">
            <a:spAutoFit/>
          </a:bodyPr>
          <a:lstStyle/>
          <a:p>
            <a:pPr algn="ctr">
              <a:spcAft>
                <a:spcPts val="0"/>
              </a:spcAft>
            </a:pPr>
            <a:r>
              <a:rPr sz="1300" b="0">
                <a:solidFill>
                  <a:srgbClr val="4A2608"/>
                </a:solidFill>
                <a:latin typeface="Calibri"/>
              </a:rPr>
              <a:t>Play: four real rugs</a:t>
            </a:r>
          </a:p>
        </p:txBody>
      </p:sp>
      <p:sp>
        <p:nvSpPr>
          <p:cNvPr id="17" name="Rectangle 16"/>
          <p:cNvSpPr/>
          <p:nvPr/>
        </p:nvSpPr>
        <p:spPr>
          <a:xfrm>
            <a:off x="5943600" y="1783080"/>
            <a:ext cx="2071116" cy="4133088"/>
          </a:xfrm>
          <a:prstGeom prst="rect">
            <a:avLst/>
          </a:prstGeom>
          <a:solidFill>
            <a:srgbClr val="4A26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815584" y="1655064"/>
            <a:ext cx="2071116" cy="4133088"/>
          </a:xfrm>
          <a:prstGeom prst="rect">
            <a:avLst/>
          </a:prstGeom>
          <a:solidFill>
            <a:srgbClr val="141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selected-LIBRA.png"/>
          <p:cNvPicPr>
            <a:picLocks noChangeAspect="1"/>
          </p:cNvPicPr>
          <p:nvPr/>
        </p:nvPicPr>
        <p:blipFill>
          <a:blip r:embed="rId5"/>
          <a:stretch>
            <a:fillRect/>
          </a:stretch>
        </p:blipFill>
        <p:spPr>
          <a:xfrm>
            <a:off x="5870448" y="1709928"/>
            <a:ext cx="1961388" cy="4023360"/>
          </a:xfrm>
          <a:prstGeom prst="rect">
            <a:avLst/>
          </a:prstGeom>
        </p:spPr>
      </p:pic>
      <p:sp>
        <p:nvSpPr>
          <p:cNvPr id="20" name="TextBox 19"/>
          <p:cNvSpPr txBox="1"/>
          <p:nvPr/>
        </p:nvSpPr>
        <p:spPr>
          <a:xfrm>
            <a:off x="5669280" y="6016752"/>
            <a:ext cx="2468880" cy="365760"/>
          </a:xfrm>
          <a:prstGeom prst="rect">
            <a:avLst/>
          </a:prstGeom>
          <a:noFill/>
        </p:spPr>
        <p:txBody>
          <a:bodyPr wrap="square" lIns="36576" rIns="36576" tIns="18288" bIns="18288" anchor="t">
            <a:spAutoFit/>
          </a:bodyPr>
          <a:lstStyle/>
          <a:p>
            <a:pPr algn="ctr">
              <a:spcAft>
                <a:spcPts val="0"/>
              </a:spcAft>
            </a:pPr>
            <a:r>
              <a:rPr sz="1300" b="0">
                <a:solidFill>
                  <a:srgbClr val="4A2608"/>
                </a:solidFill>
                <a:latin typeface="Calibri"/>
              </a:rPr>
              <a:t>Select: tap a building</a:t>
            </a:r>
          </a:p>
        </p:txBody>
      </p:sp>
      <p:sp>
        <p:nvSpPr>
          <p:cNvPr id="21" name="Rectangle 20"/>
          <p:cNvSpPr/>
          <p:nvPr/>
        </p:nvSpPr>
        <p:spPr>
          <a:xfrm>
            <a:off x="8641080" y="1828800"/>
            <a:ext cx="182880" cy="182880"/>
          </a:xfrm>
          <a:prstGeom prst="rect">
            <a:avLst/>
          </a:prstGeom>
          <a:solidFill>
            <a:srgbClr val="F7C53B"/>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19" y="1737360"/>
            <a:ext cx="2880360" cy="1417320"/>
          </a:xfrm>
          <a:prstGeom prst="rect">
            <a:avLst/>
          </a:prstGeom>
          <a:noFill/>
        </p:spPr>
        <p:txBody>
          <a:bodyPr wrap="square" lIns="36576" rIns="36576" tIns="18288" bIns="18288" anchor="t">
            <a:spAutoFit/>
          </a:bodyPr>
          <a:lstStyle/>
          <a:p>
            <a:pPr algn="l">
              <a:spcAft>
                <a:spcPts val="200"/>
              </a:spcAft>
            </a:pPr>
            <a:r>
              <a:rPr sz="1800" b="1">
                <a:solidFill>
                  <a:srgbClr val="4A2608"/>
                </a:solidFill>
                <a:latin typeface="Calibri"/>
              </a:rPr>
              <a:t>LIBRA, BARRON, MELANIA, HAWK</a:t>
            </a:r>
          </a:p>
          <a:p>
            <a:pPr algn="l">
              <a:spcAft>
                <a:spcPts val="0"/>
              </a:spcAft>
            </a:pPr>
            <a:r>
              <a:rPr sz="1500" b="0">
                <a:solidFill>
                  <a:srgbClr val="4A2608"/>
                </a:solidFill>
                <a:latin typeface="Calibri"/>
              </a:rPr>
              <a:t>Each building shows its token's logo.</a:t>
            </a:r>
          </a:p>
        </p:txBody>
      </p:sp>
      <p:sp>
        <p:nvSpPr>
          <p:cNvPr id="23" name="Rectangle 22"/>
          <p:cNvSpPr/>
          <p:nvPr/>
        </p:nvSpPr>
        <p:spPr>
          <a:xfrm>
            <a:off x="8641080" y="3373120"/>
            <a:ext cx="182880" cy="182880"/>
          </a:xfrm>
          <a:prstGeom prst="rect">
            <a:avLst/>
          </a:prstGeom>
          <a:solidFill>
            <a:srgbClr val="F7C53B"/>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19" y="3281679"/>
            <a:ext cx="2880360" cy="1417320"/>
          </a:xfrm>
          <a:prstGeom prst="rect">
            <a:avLst/>
          </a:prstGeom>
          <a:noFill/>
        </p:spPr>
        <p:txBody>
          <a:bodyPr wrap="square" lIns="36576" rIns="36576" tIns="18288" bIns="18288" anchor="t">
            <a:spAutoFit/>
          </a:bodyPr>
          <a:lstStyle/>
          <a:p>
            <a:pPr algn="l">
              <a:spcAft>
                <a:spcPts val="200"/>
              </a:spcAft>
            </a:pPr>
            <a:r>
              <a:rPr sz="1800" b="1">
                <a:solidFill>
                  <a:srgbClr val="4A2608"/>
                </a:solidFill>
                <a:latin typeface="Calibri"/>
              </a:rPr>
              <a:t>EASY or HARD</a:t>
            </a:r>
          </a:p>
          <a:p>
            <a:pPr algn="l">
              <a:spcAft>
                <a:spcPts val="0"/>
              </a:spcAft>
            </a:pPr>
            <a:r>
              <a:rPr sz="1500" b="0">
                <a:solidFill>
                  <a:srgbClr val="4A2608"/>
                </a:solidFill>
                <a:latin typeface="Calibri"/>
              </a:rPr>
              <a:t>Wallet tags shown while you play, or hidden until the end.</a:t>
            </a:r>
          </a:p>
        </p:txBody>
      </p:sp>
      <p:sp>
        <p:nvSpPr>
          <p:cNvPr id="25" name="Rectangle 24"/>
          <p:cNvSpPr/>
          <p:nvPr/>
        </p:nvSpPr>
        <p:spPr>
          <a:xfrm>
            <a:off x="8641080" y="4917440"/>
            <a:ext cx="182880" cy="182880"/>
          </a:xfrm>
          <a:prstGeom prst="rect">
            <a:avLst/>
          </a:prstGeom>
          <a:solidFill>
            <a:srgbClr val="F7C53B"/>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19" y="4826000"/>
            <a:ext cx="2880360" cy="1417320"/>
          </a:xfrm>
          <a:prstGeom prst="rect">
            <a:avLst/>
          </a:prstGeom>
          <a:noFill/>
        </p:spPr>
        <p:txBody>
          <a:bodyPr wrap="square" lIns="36576" rIns="36576" tIns="18288" bIns="18288" anchor="t">
            <a:spAutoFit/>
          </a:bodyPr>
          <a:lstStyle/>
          <a:p>
            <a:pPr algn="l">
              <a:spcAft>
                <a:spcPts val="200"/>
              </a:spcAft>
            </a:pPr>
            <a:r>
              <a:rPr sz="1800" b="1">
                <a:solidFill>
                  <a:srgbClr val="4A2608"/>
                </a:solidFill>
                <a:latin typeface="Calibri"/>
              </a:rPr>
              <a:t>No menus of lists</a:t>
            </a:r>
          </a:p>
          <a:p>
            <a:pPr algn="l">
              <a:spcAft>
                <a:spcPts val="0"/>
              </a:spcAft>
            </a:pPr>
            <a:r>
              <a:rPr sz="1500" b="0">
                <a:solidFill>
                  <a:srgbClr val="4A2608"/>
                </a:solidFill>
                <a:latin typeface="Calibri"/>
              </a:rPr>
              <a:t>You walk up to the rug you want.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4DC"/>
        </a:solidFill>
        <a:effectLst/>
      </p:bgPr>
    </p:bg>
    <p:spTree>
      <p:nvGrpSpPr>
        <p:cNvPr id="1" name=""/>
        <p:cNvGrpSpPr/>
        <p:nvPr/>
      </p:nvGrpSpPr>
      <p:grpSpPr/>
      <p:sp>
        <p:nvSpPr>
          <p:cNvPr id="2" name="TextBox 1"/>
          <p:cNvSpPr txBox="1"/>
          <p:nvPr/>
        </p:nvSpPr>
        <p:spPr>
          <a:xfrm>
            <a:off x="548640" y="347472"/>
            <a:ext cx="11064240" cy="822960"/>
          </a:xfrm>
          <a:prstGeom prst="rect">
            <a:avLst/>
          </a:prstGeom>
          <a:noFill/>
        </p:spPr>
        <p:txBody>
          <a:bodyPr wrap="square" lIns="36576" rIns="36576" tIns="18288" bIns="18288" anchor="ctr">
            <a:spAutoFit/>
          </a:bodyPr>
          <a:lstStyle/>
          <a:p>
            <a:pPr algn="l">
              <a:spcAft>
                <a:spcPts val="0"/>
              </a:spcAft>
            </a:pPr>
            <a:r>
              <a:rPr sz="3000" b="1">
                <a:solidFill>
                  <a:srgbClr val="4A2608"/>
                </a:solidFill>
                <a:latin typeface="Courier New"/>
              </a:rPr>
              <a:t>One decision: when do you get out?</a:t>
            </a:r>
          </a:p>
        </p:txBody>
      </p:sp>
      <p:sp>
        <p:nvSpPr>
          <p:cNvPr id="3" name="Rectangle 2"/>
          <p:cNvSpPr/>
          <p:nvPr/>
        </p:nvSpPr>
        <p:spPr>
          <a:xfrm>
            <a:off x="585216" y="1188720"/>
            <a:ext cx="201168" cy="201168"/>
          </a:xfrm>
          <a:prstGeom prst="rect">
            <a:avLst/>
          </a:prstGeom>
          <a:solidFill>
            <a:srgbClr val="F7C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9536" y="1188720"/>
            <a:ext cx="201168" cy="201168"/>
          </a:xfrm>
          <a:prstGeom prst="rect">
            <a:avLst/>
          </a:prstGeom>
          <a:solidFill>
            <a:srgbClr val="F08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33856" y="1188720"/>
            <a:ext cx="201168" cy="201168"/>
          </a:xfrm>
          <a:prstGeom prst="rect">
            <a:avLst/>
          </a:prstGeom>
          <a:solidFill>
            <a:srgbClr val="F7C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08176" y="1188720"/>
            <a:ext cx="201168" cy="201168"/>
          </a:xfrm>
          <a:prstGeom prst="rect">
            <a:avLst/>
          </a:prstGeom>
          <a:solidFill>
            <a:srgbClr val="F08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46520"/>
            <a:ext cx="640080" cy="274320"/>
          </a:xfrm>
          <a:prstGeom prst="rect">
            <a:avLst/>
          </a:prstGeom>
          <a:noFill/>
        </p:spPr>
        <p:txBody>
          <a:bodyPr wrap="square" lIns="36576" rIns="36576" tIns="18288" bIns="18288" anchor="t">
            <a:spAutoFit/>
          </a:bodyPr>
          <a:lstStyle/>
          <a:p>
            <a:pPr algn="r">
              <a:spcAft>
                <a:spcPts val="0"/>
              </a:spcAft>
            </a:pPr>
            <a:r>
              <a:rPr sz="1100" b="1">
                <a:solidFill>
                  <a:srgbClr val="4A2608"/>
                </a:solidFill>
                <a:latin typeface="Courier New"/>
              </a:rPr>
              <a:t>6</a:t>
            </a:r>
          </a:p>
        </p:txBody>
      </p:sp>
      <p:sp>
        <p:nvSpPr>
          <p:cNvPr id="8" name="TextBox 7"/>
          <p:cNvSpPr txBox="1"/>
          <p:nvPr/>
        </p:nvSpPr>
        <p:spPr>
          <a:xfrm>
            <a:off x="548640" y="6446520"/>
            <a:ext cx="7315200" cy="274320"/>
          </a:xfrm>
          <a:prstGeom prst="rect">
            <a:avLst/>
          </a:prstGeom>
          <a:noFill/>
        </p:spPr>
        <p:txBody>
          <a:bodyPr wrap="square" lIns="36576" rIns="36576" tIns="18288" bIns="18288" anchor="t">
            <a:spAutoFit/>
          </a:bodyPr>
          <a:lstStyle/>
          <a:p>
            <a:pPr algn="l">
              <a:spcAft>
                <a:spcPts val="0"/>
              </a:spcAft>
            </a:pPr>
            <a:r>
              <a:rPr sz="1100" b="0">
                <a:solidFill>
                  <a:srgbClr val="4A2608"/>
                </a:solidFill>
                <a:latin typeface="Courier New"/>
              </a:rPr>
              <a:t>RUGRAT  ·  CLOCK IN: Solana Mobile Hackathon</a:t>
            </a:r>
          </a:p>
        </p:txBody>
      </p:sp>
      <p:sp>
        <p:nvSpPr>
          <p:cNvPr id="9" name="Rectangle 8"/>
          <p:cNvSpPr/>
          <p:nvPr/>
        </p:nvSpPr>
        <p:spPr>
          <a:xfrm>
            <a:off x="731519" y="1783080"/>
            <a:ext cx="3290357" cy="3127248"/>
          </a:xfrm>
          <a:prstGeom prst="rect">
            <a:avLst/>
          </a:prstGeom>
          <a:solidFill>
            <a:srgbClr val="4A26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3503" y="1655064"/>
            <a:ext cx="3290357" cy="3127248"/>
          </a:xfrm>
          <a:prstGeom prst="rect">
            <a:avLst/>
          </a:prstGeom>
          <a:solidFill>
            <a:srgbClr val="141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g1.png"/>
          <p:cNvPicPr>
            <a:picLocks noChangeAspect="1"/>
          </p:cNvPicPr>
          <p:nvPr/>
        </p:nvPicPr>
        <p:blipFill>
          <a:blip r:embed="rId3"/>
          <a:stretch>
            <a:fillRect/>
          </a:stretch>
        </p:blipFill>
        <p:spPr>
          <a:xfrm>
            <a:off x="658368" y="1709928"/>
            <a:ext cx="3180629" cy="3017520"/>
          </a:xfrm>
          <a:prstGeom prst="rect">
            <a:avLst/>
          </a:prstGeom>
        </p:spPr>
      </p:pic>
      <p:sp>
        <p:nvSpPr>
          <p:cNvPr id="12" name="Rectangle 11"/>
          <p:cNvSpPr/>
          <p:nvPr/>
        </p:nvSpPr>
        <p:spPr>
          <a:xfrm>
            <a:off x="4160520" y="1783080"/>
            <a:ext cx="3290357" cy="3127248"/>
          </a:xfrm>
          <a:prstGeom prst="rect">
            <a:avLst/>
          </a:prstGeom>
          <a:solidFill>
            <a:srgbClr val="4A26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032504" y="1655064"/>
            <a:ext cx="3290357" cy="3127248"/>
          </a:xfrm>
          <a:prstGeom prst="rect">
            <a:avLst/>
          </a:prstGeom>
          <a:solidFill>
            <a:srgbClr val="141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g3.png"/>
          <p:cNvPicPr>
            <a:picLocks noChangeAspect="1"/>
          </p:cNvPicPr>
          <p:nvPr/>
        </p:nvPicPr>
        <p:blipFill>
          <a:blip r:embed="rId4"/>
          <a:stretch>
            <a:fillRect/>
          </a:stretch>
        </p:blipFill>
        <p:spPr>
          <a:xfrm>
            <a:off x="4087368" y="1709928"/>
            <a:ext cx="3180629" cy="3017520"/>
          </a:xfrm>
          <a:prstGeom prst="rect">
            <a:avLst/>
          </a:prstGeom>
        </p:spPr>
      </p:pic>
      <p:sp>
        <p:nvSpPr>
          <p:cNvPr id="15" name="TextBox 14"/>
          <p:cNvSpPr txBox="1"/>
          <p:nvPr/>
        </p:nvSpPr>
        <p:spPr>
          <a:xfrm>
            <a:off x="640080" y="5029200"/>
            <a:ext cx="3200400" cy="365760"/>
          </a:xfrm>
          <a:prstGeom prst="rect">
            <a:avLst/>
          </a:prstGeom>
          <a:noFill/>
        </p:spPr>
        <p:txBody>
          <a:bodyPr wrap="square" lIns="36576" rIns="36576" tIns="18288" bIns="18288" anchor="t">
            <a:spAutoFit/>
          </a:bodyPr>
          <a:lstStyle/>
          <a:p>
            <a:pPr algn="ctr">
              <a:spcAft>
                <a:spcPts val="0"/>
              </a:spcAft>
            </a:pPr>
            <a:r>
              <a:rPr sz="1300" b="0">
                <a:solidFill>
                  <a:srgbClr val="4A2608"/>
                </a:solidFill>
                <a:latin typeface="Calibri"/>
              </a:rPr>
              <a:t>LIBRA: you bought, price climbing</a:t>
            </a:r>
          </a:p>
        </p:txBody>
      </p:sp>
      <p:sp>
        <p:nvSpPr>
          <p:cNvPr id="16" name="TextBox 15"/>
          <p:cNvSpPr txBox="1"/>
          <p:nvPr/>
        </p:nvSpPr>
        <p:spPr>
          <a:xfrm>
            <a:off x="4069080" y="5029200"/>
            <a:ext cx="3200400" cy="365760"/>
          </a:xfrm>
          <a:prstGeom prst="rect">
            <a:avLst/>
          </a:prstGeom>
          <a:noFill/>
        </p:spPr>
        <p:txBody>
          <a:bodyPr wrap="square" lIns="36576" rIns="36576" tIns="18288" bIns="18288" anchor="t">
            <a:spAutoFit/>
          </a:bodyPr>
          <a:lstStyle/>
          <a:p>
            <a:pPr algn="ctr">
              <a:spcAft>
                <a:spcPts val="0"/>
              </a:spcAft>
            </a:pPr>
            <a:r>
              <a:rPr sz="1300" b="0">
                <a:solidFill>
                  <a:srgbClr val="4A2608"/>
                </a:solidFill>
                <a:latin typeface="Calibri"/>
              </a:rPr>
              <a:t>HAWK: dev wallet events on the way</a:t>
            </a:r>
          </a:p>
        </p:txBody>
      </p:sp>
      <p:sp>
        <p:nvSpPr>
          <p:cNvPr id="17" name="Rectangle 16"/>
          <p:cNvSpPr/>
          <p:nvPr/>
        </p:nvSpPr>
        <p:spPr>
          <a:xfrm>
            <a:off x="7836408" y="1755648"/>
            <a:ext cx="3840480" cy="1097280"/>
          </a:xfrm>
          <a:prstGeom prst="rect">
            <a:avLst/>
          </a:prstGeom>
          <a:solidFill>
            <a:srgbClr val="4A26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0" y="1691640"/>
            <a:ext cx="3840480" cy="1097280"/>
          </a:xfrm>
          <a:prstGeom prst="rect">
            <a:avLst/>
          </a:prstGeom>
          <a:solidFill>
            <a:srgbClr val="FFFFFF"/>
          </a:solidFill>
          <a:ln w="317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0" y="1691640"/>
            <a:ext cx="256032" cy="1097280"/>
          </a:xfrm>
          <a:prstGeom prst="rect">
            <a:avLst/>
          </a:prstGeom>
          <a:solidFill>
            <a:srgbClr val="2E7D32"/>
          </a:solidFill>
          <a:ln w="317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38160" y="1719072"/>
            <a:ext cx="3383280" cy="420624"/>
          </a:xfrm>
          <a:prstGeom prst="rect">
            <a:avLst/>
          </a:prstGeom>
          <a:noFill/>
        </p:spPr>
        <p:txBody>
          <a:bodyPr wrap="square" lIns="36576" rIns="36576" tIns="18288" bIns="18288" anchor="t">
            <a:spAutoFit/>
          </a:bodyPr>
          <a:lstStyle/>
          <a:p>
            <a:pPr algn="l">
              <a:spcAft>
                <a:spcPts val="0"/>
              </a:spcAft>
            </a:pPr>
            <a:r>
              <a:rPr sz="1800" b="1">
                <a:solidFill>
                  <a:srgbClr val="2E7D32"/>
                </a:solidFill>
                <a:latin typeface="Courier New"/>
              </a:rPr>
              <a:t>CLEAN EXIT</a:t>
            </a:r>
          </a:p>
        </p:txBody>
      </p:sp>
      <p:sp>
        <p:nvSpPr>
          <p:cNvPr id="21" name="TextBox 20"/>
          <p:cNvSpPr txBox="1"/>
          <p:nvPr/>
        </p:nvSpPr>
        <p:spPr>
          <a:xfrm>
            <a:off x="8138160" y="2121408"/>
            <a:ext cx="3383280" cy="365760"/>
          </a:xfrm>
          <a:prstGeom prst="rect">
            <a:avLst/>
          </a:prstGeom>
          <a:noFill/>
        </p:spPr>
        <p:txBody>
          <a:bodyPr wrap="square" lIns="36576" rIns="36576" tIns="18288" bIns="18288" anchor="t">
            <a:spAutoFit/>
          </a:bodyPr>
          <a:lstStyle/>
          <a:p>
            <a:pPr algn="l">
              <a:spcAft>
                <a:spcPts val="0"/>
              </a:spcAft>
            </a:pPr>
            <a:r>
              <a:rPr sz="1500" b="0">
                <a:solidFill>
                  <a:srgbClr val="4A2608"/>
                </a:solidFill>
                <a:latin typeface="Calibri"/>
              </a:rPr>
              <a:t>Sold before the signal</a:t>
            </a:r>
          </a:p>
        </p:txBody>
      </p:sp>
      <p:sp>
        <p:nvSpPr>
          <p:cNvPr id="22" name="TextBox 21"/>
          <p:cNvSpPr txBox="1"/>
          <p:nvPr/>
        </p:nvSpPr>
        <p:spPr>
          <a:xfrm>
            <a:off x="8138160" y="2423160"/>
            <a:ext cx="3383280" cy="320040"/>
          </a:xfrm>
          <a:prstGeom prst="rect">
            <a:avLst/>
          </a:prstGeom>
          <a:noFill/>
        </p:spPr>
        <p:txBody>
          <a:bodyPr wrap="square" lIns="36576" rIns="36576" tIns="18288" bIns="18288" anchor="t">
            <a:spAutoFit/>
          </a:bodyPr>
          <a:lstStyle/>
          <a:p>
            <a:pPr algn="l">
              <a:spcAft>
                <a:spcPts val="0"/>
              </a:spcAft>
            </a:pPr>
            <a:r>
              <a:rPr sz="1400" b="1">
                <a:solidFill>
                  <a:srgbClr val="4A2608"/>
                </a:solidFill>
                <a:latin typeface="Calibri"/>
              </a:rPr>
              <a:t>score 800 to 1000</a:t>
            </a:r>
          </a:p>
        </p:txBody>
      </p:sp>
      <p:sp>
        <p:nvSpPr>
          <p:cNvPr id="23" name="Rectangle 22"/>
          <p:cNvSpPr/>
          <p:nvPr/>
        </p:nvSpPr>
        <p:spPr>
          <a:xfrm>
            <a:off x="7836408" y="3035808"/>
            <a:ext cx="3840480" cy="1097280"/>
          </a:xfrm>
          <a:prstGeom prst="rect">
            <a:avLst/>
          </a:prstGeom>
          <a:solidFill>
            <a:srgbClr val="4A26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0" y="2971800"/>
            <a:ext cx="3840480" cy="1097280"/>
          </a:xfrm>
          <a:prstGeom prst="rect">
            <a:avLst/>
          </a:prstGeom>
          <a:solidFill>
            <a:srgbClr val="FFFFFF"/>
          </a:solidFill>
          <a:ln w="317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0" y="2971800"/>
            <a:ext cx="256032" cy="1097280"/>
          </a:xfrm>
          <a:prstGeom prst="rect">
            <a:avLst/>
          </a:prstGeom>
          <a:solidFill>
            <a:srgbClr val="B26A00"/>
          </a:solidFill>
          <a:ln w="317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38160" y="2999232"/>
            <a:ext cx="3383280" cy="420624"/>
          </a:xfrm>
          <a:prstGeom prst="rect">
            <a:avLst/>
          </a:prstGeom>
          <a:noFill/>
        </p:spPr>
        <p:txBody>
          <a:bodyPr wrap="square" lIns="36576" rIns="36576" tIns="18288" bIns="18288" anchor="t">
            <a:spAutoFit/>
          </a:bodyPr>
          <a:lstStyle/>
          <a:p>
            <a:pPr algn="l">
              <a:spcAft>
                <a:spcPts val="0"/>
              </a:spcAft>
            </a:pPr>
            <a:r>
              <a:rPr sz="1800" b="1">
                <a:solidFill>
                  <a:srgbClr val="B26A00"/>
                </a:solidFill>
                <a:latin typeface="Courier New"/>
              </a:rPr>
              <a:t>LATE EXIT</a:t>
            </a:r>
          </a:p>
        </p:txBody>
      </p:sp>
      <p:sp>
        <p:nvSpPr>
          <p:cNvPr id="27" name="TextBox 26"/>
          <p:cNvSpPr txBox="1"/>
          <p:nvPr/>
        </p:nvSpPr>
        <p:spPr>
          <a:xfrm>
            <a:off x="8138160" y="3401568"/>
            <a:ext cx="3383280" cy="365760"/>
          </a:xfrm>
          <a:prstGeom prst="rect">
            <a:avLst/>
          </a:prstGeom>
          <a:noFill/>
        </p:spPr>
        <p:txBody>
          <a:bodyPr wrap="square" lIns="36576" rIns="36576" tIns="18288" bIns="18288" anchor="t">
            <a:spAutoFit/>
          </a:bodyPr>
          <a:lstStyle/>
          <a:p>
            <a:pPr algn="l">
              <a:spcAft>
                <a:spcPts val="0"/>
              </a:spcAft>
            </a:pPr>
            <a:r>
              <a:rPr sz="1500" b="0">
                <a:solidFill>
                  <a:srgbClr val="4A2608"/>
                </a:solidFill>
                <a:latin typeface="Calibri"/>
              </a:rPr>
              <a:t>Sold after the signal, before the collapse</a:t>
            </a:r>
          </a:p>
        </p:txBody>
      </p:sp>
      <p:sp>
        <p:nvSpPr>
          <p:cNvPr id="28" name="TextBox 27"/>
          <p:cNvSpPr txBox="1"/>
          <p:nvPr/>
        </p:nvSpPr>
        <p:spPr>
          <a:xfrm>
            <a:off x="8138160" y="3703320"/>
            <a:ext cx="3383280" cy="320040"/>
          </a:xfrm>
          <a:prstGeom prst="rect">
            <a:avLst/>
          </a:prstGeom>
          <a:noFill/>
        </p:spPr>
        <p:txBody>
          <a:bodyPr wrap="square" lIns="36576" rIns="36576" tIns="18288" bIns="18288" anchor="t">
            <a:spAutoFit/>
          </a:bodyPr>
          <a:lstStyle/>
          <a:p>
            <a:pPr algn="l">
              <a:spcAft>
                <a:spcPts val="0"/>
              </a:spcAft>
            </a:pPr>
            <a:r>
              <a:rPr sz="1400" b="1">
                <a:solidFill>
                  <a:srgbClr val="4A2608"/>
                </a:solidFill>
                <a:latin typeface="Calibri"/>
              </a:rPr>
              <a:t>score 500 to 700</a:t>
            </a:r>
          </a:p>
        </p:txBody>
      </p:sp>
      <p:sp>
        <p:nvSpPr>
          <p:cNvPr id="29" name="Rectangle 28"/>
          <p:cNvSpPr/>
          <p:nvPr/>
        </p:nvSpPr>
        <p:spPr>
          <a:xfrm>
            <a:off x="7836408" y="4315968"/>
            <a:ext cx="3840480" cy="1097280"/>
          </a:xfrm>
          <a:prstGeom prst="rect">
            <a:avLst/>
          </a:prstGeom>
          <a:solidFill>
            <a:srgbClr val="4A26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0" y="4251960"/>
            <a:ext cx="3840480" cy="1097280"/>
          </a:xfrm>
          <a:prstGeom prst="rect">
            <a:avLst/>
          </a:prstGeom>
          <a:solidFill>
            <a:srgbClr val="FFFFFF"/>
          </a:solidFill>
          <a:ln w="317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0" y="4251960"/>
            <a:ext cx="256032" cy="1097280"/>
          </a:xfrm>
          <a:prstGeom prst="rect">
            <a:avLst/>
          </a:prstGeom>
          <a:solidFill>
            <a:srgbClr val="B02A2A"/>
          </a:solidFill>
          <a:ln w="317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38160" y="4279392"/>
            <a:ext cx="3383280" cy="420624"/>
          </a:xfrm>
          <a:prstGeom prst="rect">
            <a:avLst/>
          </a:prstGeom>
          <a:noFill/>
        </p:spPr>
        <p:txBody>
          <a:bodyPr wrap="square" lIns="36576" rIns="36576" tIns="18288" bIns="18288" anchor="t">
            <a:spAutoFit/>
          </a:bodyPr>
          <a:lstStyle/>
          <a:p>
            <a:pPr algn="l">
              <a:spcAft>
                <a:spcPts val="0"/>
              </a:spcAft>
            </a:pPr>
            <a:r>
              <a:rPr sz="1800" b="1">
                <a:solidFill>
                  <a:srgbClr val="B02A2A"/>
                </a:solidFill>
                <a:latin typeface="Courier New"/>
              </a:rPr>
              <a:t>RUGGED</a:t>
            </a:r>
          </a:p>
        </p:txBody>
      </p:sp>
      <p:sp>
        <p:nvSpPr>
          <p:cNvPr id="33" name="TextBox 32"/>
          <p:cNvSpPr txBox="1"/>
          <p:nvPr/>
        </p:nvSpPr>
        <p:spPr>
          <a:xfrm>
            <a:off x="8138160" y="4681728"/>
            <a:ext cx="3383280" cy="365760"/>
          </a:xfrm>
          <a:prstGeom prst="rect">
            <a:avLst/>
          </a:prstGeom>
          <a:noFill/>
        </p:spPr>
        <p:txBody>
          <a:bodyPr wrap="square" lIns="36576" rIns="36576" tIns="18288" bIns="18288" anchor="t">
            <a:spAutoFit/>
          </a:bodyPr>
          <a:lstStyle/>
          <a:p>
            <a:pPr algn="l">
              <a:spcAft>
                <a:spcPts val="0"/>
              </a:spcAft>
            </a:pPr>
            <a:r>
              <a:rPr sz="1500" b="0">
                <a:solidFill>
                  <a:srgbClr val="4A2608"/>
                </a:solidFill>
                <a:latin typeface="Calibri"/>
              </a:rPr>
              <a:t>Still in when it collapsed</a:t>
            </a:r>
          </a:p>
        </p:txBody>
      </p:sp>
      <p:sp>
        <p:nvSpPr>
          <p:cNvPr id="34" name="TextBox 33"/>
          <p:cNvSpPr txBox="1"/>
          <p:nvPr/>
        </p:nvSpPr>
        <p:spPr>
          <a:xfrm>
            <a:off x="8138160" y="4983480"/>
            <a:ext cx="3383280" cy="320040"/>
          </a:xfrm>
          <a:prstGeom prst="rect">
            <a:avLst/>
          </a:prstGeom>
          <a:noFill/>
        </p:spPr>
        <p:txBody>
          <a:bodyPr wrap="square" lIns="36576" rIns="36576" tIns="18288" bIns="18288" anchor="t">
            <a:spAutoFit/>
          </a:bodyPr>
          <a:lstStyle/>
          <a:p>
            <a:pPr algn="l">
              <a:spcAft>
                <a:spcPts val="0"/>
              </a:spcAft>
            </a:pPr>
            <a:r>
              <a:rPr sz="1400" b="1">
                <a:solidFill>
                  <a:srgbClr val="4A2608"/>
                </a:solidFill>
                <a:latin typeface="Calibri"/>
              </a:rPr>
              <a:t>score 0</a:t>
            </a:r>
          </a:p>
        </p:txBody>
      </p:sp>
      <p:sp>
        <p:nvSpPr>
          <p:cNvPr id="35" name="TextBox 34"/>
          <p:cNvSpPr txBox="1"/>
          <p:nvPr/>
        </p:nvSpPr>
        <p:spPr>
          <a:xfrm>
            <a:off x="640080" y="5760720"/>
            <a:ext cx="10972800" cy="640080"/>
          </a:xfrm>
          <a:prstGeom prst="rect">
            <a:avLst/>
          </a:prstGeom>
          <a:noFill/>
        </p:spPr>
        <p:txBody>
          <a:bodyPr wrap="square" lIns="36576" rIns="36576" tIns="18288" bIns="18288" anchor="t">
            <a:spAutoFit/>
          </a:bodyPr>
          <a:lstStyle/>
          <a:p>
            <a:pPr algn="l">
              <a:spcAft>
                <a:spcPts val="0"/>
              </a:spcAft>
            </a:pPr>
            <a:r>
              <a:rPr sz="1700" b="1">
                <a:solidFill>
                  <a:srgbClr val="4A2608"/>
                </a:solidFill>
                <a:latin typeface="Calibri"/>
              </a:rPr>
              <a:t>Scores use the verdict and timing only, so paper SOL, speed and frame rate cannot change them. The difficulty is locked for the whole run.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4DC"/>
        </a:solidFill>
        <a:effectLst/>
      </p:bgPr>
    </p:bg>
    <p:spTree>
      <p:nvGrpSpPr>
        <p:cNvPr id="1" name=""/>
        <p:cNvGrpSpPr/>
        <p:nvPr/>
      </p:nvGrpSpPr>
      <p:grpSpPr/>
      <p:sp>
        <p:nvSpPr>
          <p:cNvPr id="2" name="TextBox 1"/>
          <p:cNvSpPr txBox="1"/>
          <p:nvPr/>
        </p:nvSpPr>
        <p:spPr>
          <a:xfrm>
            <a:off x="548640" y="347472"/>
            <a:ext cx="11064240" cy="822960"/>
          </a:xfrm>
          <a:prstGeom prst="rect">
            <a:avLst/>
          </a:prstGeom>
          <a:noFill/>
        </p:spPr>
        <p:txBody>
          <a:bodyPr wrap="square" lIns="36576" rIns="36576" tIns="18288" bIns="18288" anchor="ctr">
            <a:spAutoFit/>
          </a:bodyPr>
          <a:lstStyle/>
          <a:p>
            <a:pPr algn="l">
              <a:spcAft>
                <a:spcPts val="0"/>
              </a:spcAft>
            </a:pPr>
            <a:r>
              <a:rPr sz="3000" b="1">
                <a:solidFill>
                  <a:srgbClr val="4A2608"/>
                </a:solidFill>
                <a:latin typeface="Courier New"/>
              </a:rPr>
              <a:t>More than watching a chart</a:t>
            </a:r>
          </a:p>
        </p:txBody>
      </p:sp>
      <p:sp>
        <p:nvSpPr>
          <p:cNvPr id="3" name="Rectangle 2"/>
          <p:cNvSpPr/>
          <p:nvPr/>
        </p:nvSpPr>
        <p:spPr>
          <a:xfrm>
            <a:off x="585216" y="1188720"/>
            <a:ext cx="201168" cy="201168"/>
          </a:xfrm>
          <a:prstGeom prst="rect">
            <a:avLst/>
          </a:prstGeom>
          <a:solidFill>
            <a:srgbClr val="F7C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9536" y="1188720"/>
            <a:ext cx="201168" cy="201168"/>
          </a:xfrm>
          <a:prstGeom prst="rect">
            <a:avLst/>
          </a:prstGeom>
          <a:solidFill>
            <a:srgbClr val="F08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33856" y="1188720"/>
            <a:ext cx="201168" cy="201168"/>
          </a:xfrm>
          <a:prstGeom prst="rect">
            <a:avLst/>
          </a:prstGeom>
          <a:solidFill>
            <a:srgbClr val="F7C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08176" y="1188720"/>
            <a:ext cx="201168" cy="201168"/>
          </a:xfrm>
          <a:prstGeom prst="rect">
            <a:avLst/>
          </a:prstGeom>
          <a:solidFill>
            <a:srgbClr val="F08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46520"/>
            <a:ext cx="640080" cy="274320"/>
          </a:xfrm>
          <a:prstGeom prst="rect">
            <a:avLst/>
          </a:prstGeom>
          <a:noFill/>
        </p:spPr>
        <p:txBody>
          <a:bodyPr wrap="square" lIns="36576" rIns="36576" tIns="18288" bIns="18288" anchor="t">
            <a:spAutoFit/>
          </a:bodyPr>
          <a:lstStyle/>
          <a:p>
            <a:pPr algn="r">
              <a:spcAft>
                <a:spcPts val="0"/>
              </a:spcAft>
            </a:pPr>
            <a:r>
              <a:rPr sz="1100" b="1">
                <a:solidFill>
                  <a:srgbClr val="4A2608"/>
                </a:solidFill>
                <a:latin typeface="Courier New"/>
              </a:rPr>
              <a:t>7</a:t>
            </a:r>
          </a:p>
        </p:txBody>
      </p:sp>
      <p:sp>
        <p:nvSpPr>
          <p:cNvPr id="8" name="TextBox 7"/>
          <p:cNvSpPr txBox="1"/>
          <p:nvPr/>
        </p:nvSpPr>
        <p:spPr>
          <a:xfrm>
            <a:off x="548640" y="6446520"/>
            <a:ext cx="7315200" cy="274320"/>
          </a:xfrm>
          <a:prstGeom prst="rect">
            <a:avLst/>
          </a:prstGeom>
          <a:noFill/>
        </p:spPr>
        <p:txBody>
          <a:bodyPr wrap="square" lIns="36576" rIns="36576" tIns="18288" bIns="18288" anchor="t">
            <a:spAutoFit/>
          </a:bodyPr>
          <a:lstStyle/>
          <a:p>
            <a:pPr algn="l">
              <a:spcAft>
                <a:spcPts val="0"/>
              </a:spcAft>
            </a:pPr>
            <a:r>
              <a:rPr sz="1100" b="0">
                <a:solidFill>
                  <a:srgbClr val="4A2608"/>
                </a:solidFill>
                <a:latin typeface="Courier New"/>
              </a:rPr>
              <a:t>RUGRAT  ·  CLOCK IN: Solana Mobile Hackathon</a:t>
            </a:r>
          </a:p>
        </p:txBody>
      </p:sp>
      <p:sp>
        <p:nvSpPr>
          <p:cNvPr id="9" name="Rectangle 8"/>
          <p:cNvSpPr/>
          <p:nvPr/>
        </p:nvSpPr>
        <p:spPr>
          <a:xfrm>
            <a:off x="548640" y="1645920"/>
            <a:ext cx="1188720" cy="502920"/>
          </a:xfrm>
          <a:prstGeom prst="rect">
            <a:avLst/>
          </a:prstGeom>
          <a:solidFill>
            <a:srgbClr val="4A26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45920"/>
            <a:ext cx="1188720" cy="502920"/>
          </a:xfrm>
          <a:prstGeom prst="rect">
            <a:avLst/>
          </a:prstGeom>
          <a:noFill/>
        </p:spPr>
        <p:txBody>
          <a:bodyPr wrap="square" lIns="36576" rIns="36576" tIns="18288" bIns="18288" anchor="ctr">
            <a:spAutoFit/>
          </a:bodyPr>
          <a:lstStyle/>
          <a:p>
            <a:pPr algn="ctr">
              <a:spcAft>
                <a:spcPts val="0"/>
              </a:spcAft>
            </a:pPr>
            <a:r>
              <a:rPr sz="1500" b="1">
                <a:solidFill>
                  <a:srgbClr val="F7C53B"/>
                </a:solidFill>
                <a:latin typeface="Courier New"/>
              </a:rPr>
              <a:t/>
            </a:r>
          </a:p>
        </p:txBody>
      </p:sp>
      <p:sp>
        <p:nvSpPr>
          <p:cNvPr id="11" name="Rectangle 10"/>
          <p:cNvSpPr/>
          <p:nvPr/>
        </p:nvSpPr>
        <p:spPr>
          <a:xfrm>
            <a:off x="1828800" y="1645920"/>
            <a:ext cx="1874520" cy="502920"/>
          </a:xfrm>
          <a:prstGeom prst="rect">
            <a:avLst/>
          </a:prstGeom>
          <a:solidFill>
            <a:srgbClr val="4A26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0" y="1645920"/>
            <a:ext cx="1874520" cy="502920"/>
          </a:xfrm>
          <a:prstGeom prst="rect">
            <a:avLst/>
          </a:prstGeom>
          <a:noFill/>
        </p:spPr>
        <p:txBody>
          <a:bodyPr wrap="square" lIns="36576" rIns="36576" tIns="18288" bIns="18288" anchor="ctr">
            <a:spAutoFit/>
          </a:bodyPr>
          <a:lstStyle/>
          <a:p>
            <a:pPr algn="ctr">
              <a:spcAft>
                <a:spcPts val="0"/>
              </a:spcAft>
            </a:pPr>
            <a:r>
              <a:rPr sz="1500" b="1">
                <a:solidFill>
                  <a:srgbClr val="FFF4DC"/>
                </a:solidFill>
                <a:latin typeface="Courier New"/>
              </a:rPr>
              <a:t>Chart viewer</a:t>
            </a:r>
          </a:p>
        </p:txBody>
      </p:sp>
      <p:sp>
        <p:nvSpPr>
          <p:cNvPr id="13" name="Rectangle 12"/>
          <p:cNvSpPr/>
          <p:nvPr/>
        </p:nvSpPr>
        <p:spPr>
          <a:xfrm>
            <a:off x="3794760" y="1645920"/>
            <a:ext cx="2240280" cy="502920"/>
          </a:xfrm>
          <a:prstGeom prst="rect">
            <a:avLst/>
          </a:prstGeom>
          <a:solidFill>
            <a:srgbClr val="141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94760" y="1645920"/>
            <a:ext cx="2240280" cy="502920"/>
          </a:xfrm>
          <a:prstGeom prst="rect">
            <a:avLst/>
          </a:prstGeom>
          <a:noFill/>
        </p:spPr>
        <p:txBody>
          <a:bodyPr wrap="square" lIns="36576" rIns="36576" tIns="18288" bIns="18288" anchor="ctr">
            <a:spAutoFit/>
          </a:bodyPr>
          <a:lstStyle/>
          <a:p>
            <a:pPr algn="ctr">
              <a:spcAft>
                <a:spcPts val="0"/>
              </a:spcAft>
            </a:pPr>
            <a:r>
              <a:rPr sz="1500" b="1">
                <a:solidFill>
                  <a:srgbClr val="FFF4DC"/>
                </a:solidFill>
                <a:latin typeface="Courier New"/>
              </a:rPr>
              <a:t>Rugrat</a:t>
            </a:r>
          </a:p>
        </p:txBody>
      </p:sp>
      <p:sp>
        <p:nvSpPr>
          <p:cNvPr id="15" name="Rectangle 14"/>
          <p:cNvSpPr/>
          <p:nvPr/>
        </p:nvSpPr>
        <p:spPr>
          <a:xfrm>
            <a:off x="548640" y="2240280"/>
            <a:ext cx="1188720" cy="804672"/>
          </a:xfrm>
          <a:prstGeom prst="rect">
            <a:avLst/>
          </a:prstGeom>
          <a:solidFill>
            <a:srgbClr val="F7C53B"/>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2240280"/>
            <a:ext cx="1188720" cy="804672"/>
          </a:xfrm>
          <a:prstGeom prst="rect">
            <a:avLst/>
          </a:prstGeom>
          <a:noFill/>
        </p:spPr>
        <p:txBody>
          <a:bodyPr wrap="square" lIns="36576" rIns="36576" tIns="18288" bIns="18288" anchor="ctr">
            <a:spAutoFit/>
          </a:bodyPr>
          <a:lstStyle/>
          <a:p>
            <a:pPr algn="ctr">
              <a:spcAft>
                <a:spcPts val="0"/>
              </a:spcAft>
            </a:pPr>
            <a:r>
              <a:rPr sz="1500" b="1">
                <a:solidFill>
                  <a:srgbClr val="4A2608"/>
                </a:solidFill>
                <a:latin typeface="Calibri"/>
              </a:rPr>
              <a:t>You see</a:t>
            </a:r>
          </a:p>
        </p:txBody>
      </p:sp>
      <p:sp>
        <p:nvSpPr>
          <p:cNvPr id="17" name="Rectangle 16"/>
          <p:cNvSpPr/>
          <p:nvPr/>
        </p:nvSpPr>
        <p:spPr>
          <a:xfrm>
            <a:off x="1828800" y="2240280"/>
            <a:ext cx="1874520" cy="804672"/>
          </a:xfrm>
          <a:prstGeom prst="rect">
            <a:avLst/>
          </a:prstGeom>
          <a:solidFill>
            <a:srgbClr val="FFFFFF"/>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828800" y="2240280"/>
            <a:ext cx="1874520" cy="804672"/>
          </a:xfrm>
          <a:prstGeom prst="rect">
            <a:avLst/>
          </a:prstGeom>
          <a:noFill/>
        </p:spPr>
        <p:txBody>
          <a:bodyPr wrap="square" lIns="36576" rIns="36576" tIns="18288" bIns="18288" anchor="ctr">
            <a:spAutoFit/>
          </a:bodyPr>
          <a:lstStyle/>
          <a:p>
            <a:pPr algn="ctr">
              <a:spcAft>
                <a:spcPts val="0"/>
              </a:spcAft>
            </a:pPr>
            <a:r>
              <a:rPr sz="1500" b="0">
                <a:solidFill>
                  <a:srgbClr val="4A2608"/>
                </a:solidFill>
                <a:latin typeface="Calibri"/>
              </a:rPr>
              <a:t>The finished chart</a:t>
            </a:r>
          </a:p>
        </p:txBody>
      </p:sp>
      <p:sp>
        <p:nvSpPr>
          <p:cNvPr id="19" name="Rectangle 18"/>
          <p:cNvSpPr/>
          <p:nvPr/>
        </p:nvSpPr>
        <p:spPr>
          <a:xfrm>
            <a:off x="3794760" y="2240280"/>
            <a:ext cx="2240280" cy="804672"/>
          </a:xfrm>
          <a:prstGeom prst="rect">
            <a:avLst/>
          </a:prstGeom>
          <a:solidFill>
            <a:srgbClr val="DFF3C7"/>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94760" y="2240280"/>
            <a:ext cx="2240280" cy="804672"/>
          </a:xfrm>
          <a:prstGeom prst="rect">
            <a:avLst/>
          </a:prstGeom>
          <a:noFill/>
        </p:spPr>
        <p:txBody>
          <a:bodyPr wrap="square" lIns="36576" rIns="36576" tIns="18288" bIns="18288" anchor="ctr">
            <a:spAutoFit/>
          </a:bodyPr>
          <a:lstStyle/>
          <a:p>
            <a:pPr algn="ctr">
              <a:spcAft>
                <a:spcPts val="0"/>
              </a:spcAft>
            </a:pPr>
            <a:r>
              <a:rPr sz="1500" b="1">
                <a:solidFill>
                  <a:srgbClr val="4A2608"/>
                </a:solidFill>
                <a:latin typeface="Calibri"/>
              </a:rPr>
              <a:t>Only the present moment</a:t>
            </a:r>
          </a:p>
        </p:txBody>
      </p:sp>
      <p:sp>
        <p:nvSpPr>
          <p:cNvPr id="21" name="Rectangle 20"/>
          <p:cNvSpPr/>
          <p:nvPr/>
        </p:nvSpPr>
        <p:spPr>
          <a:xfrm>
            <a:off x="548640" y="3108960"/>
            <a:ext cx="1188720" cy="804672"/>
          </a:xfrm>
          <a:prstGeom prst="rect">
            <a:avLst/>
          </a:prstGeom>
          <a:solidFill>
            <a:srgbClr val="F7C53B"/>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108960"/>
            <a:ext cx="1188720" cy="804672"/>
          </a:xfrm>
          <a:prstGeom prst="rect">
            <a:avLst/>
          </a:prstGeom>
          <a:noFill/>
        </p:spPr>
        <p:txBody>
          <a:bodyPr wrap="square" lIns="36576" rIns="36576" tIns="18288" bIns="18288" anchor="ctr">
            <a:spAutoFit/>
          </a:bodyPr>
          <a:lstStyle/>
          <a:p>
            <a:pPr algn="ctr">
              <a:spcAft>
                <a:spcPts val="0"/>
              </a:spcAft>
            </a:pPr>
            <a:r>
              <a:rPr sz="1500" b="1">
                <a:solidFill>
                  <a:srgbClr val="4A2608"/>
                </a:solidFill>
                <a:latin typeface="Calibri"/>
              </a:rPr>
              <a:t>You do</a:t>
            </a:r>
          </a:p>
        </p:txBody>
      </p:sp>
      <p:sp>
        <p:nvSpPr>
          <p:cNvPr id="23" name="Rectangle 22"/>
          <p:cNvSpPr/>
          <p:nvPr/>
        </p:nvSpPr>
        <p:spPr>
          <a:xfrm>
            <a:off x="1828800" y="3108960"/>
            <a:ext cx="1874520" cy="804672"/>
          </a:xfrm>
          <a:prstGeom prst="rect">
            <a:avLst/>
          </a:prstGeom>
          <a:solidFill>
            <a:srgbClr val="FFFFFF"/>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828800" y="3108960"/>
            <a:ext cx="1874520" cy="804672"/>
          </a:xfrm>
          <a:prstGeom prst="rect">
            <a:avLst/>
          </a:prstGeom>
          <a:noFill/>
        </p:spPr>
        <p:txBody>
          <a:bodyPr wrap="square" lIns="36576" rIns="36576" tIns="18288" bIns="18288" anchor="ctr">
            <a:spAutoFit/>
          </a:bodyPr>
          <a:lstStyle/>
          <a:p>
            <a:pPr algn="ctr">
              <a:spcAft>
                <a:spcPts val="0"/>
              </a:spcAft>
            </a:pPr>
            <a:r>
              <a:rPr sz="1500" b="0">
                <a:solidFill>
                  <a:srgbClr val="4A2608"/>
                </a:solidFill>
                <a:latin typeface="Calibri"/>
              </a:rPr>
              <a:t>Read and scroll</a:t>
            </a:r>
          </a:p>
        </p:txBody>
      </p:sp>
      <p:sp>
        <p:nvSpPr>
          <p:cNvPr id="25" name="Rectangle 24"/>
          <p:cNvSpPr/>
          <p:nvPr/>
        </p:nvSpPr>
        <p:spPr>
          <a:xfrm>
            <a:off x="3794760" y="3108960"/>
            <a:ext cx="2240280" cy="804672"/>
          </a:xfrm>
          <a:prstGeom prst="rect">
            <a:avLst/>
          </a:prstGeom>
          <a:solidFill>
            <a:srgbClr val="DFF3C7"/>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94760" y="3108960"/>
            <a:ext cx="2240280" cy="804672"/>
          </a:xfrm>
          <a:prstGeom prst="rect">
            <a:avLst/>
          </a:prstGeom>
          <a:noFill/>
        </p:spPr>
        <p:txBody>
          <a:bodyPr wrap="square" lIns="36576" rIns="36576" tIns="18288" bIns="18288" anchor="ctr">
            <a:spAutoFit/>
          </a:bodyPr>
          <a:lstStyle/>
          <a:p>
            <a:pPr algn="ctr">
              <a:spcAft>
                <a:spcPts val="0"/>
              </a:spcAft>
            </a:pPr>
            <a:r>
              <a:rPr sz="1500" b="1">
                <a:solidFill>
                  <a:srgbClr val="4A2608"/>
                </a:solidFill>
                <a:latin typeface="Calibri"/>
              </a:rPr>
              <a:t>Decide when to sell</a:t>
            </a:r>
          </a:p>
        </p:txBody>
      </p:sp>
      <p:sp>
        <p:nvSpPr>
          <p:cNvPr id="27" name="Rectangle 26"/>
          <p:cNvSpPr/>
          <p:nvPr/>
        </p:nvSpPr>
        <p:spPr>
          <a:xfrm>
            <a:off x="548640" y="3977639"/>
            <a:ext cx="1188720" cy="804672"/>
          </a:xfrm>
          <a:prstGeom prst="rect">
            <a:avLst/>
          </a:prstGeom>
          <a:solidFill>
            <a:srgbClr val="F7C53B"/>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3977639"/>
            <a:ext cx="1188720" cy="804672"/>
          </a:xfrm>
          <a:prstGeom prst="rect">
            <a:avLst/>
          </a:prstGeom>
          <a:noFill/>
        </p:spPr>
        <p:txBody>
          <a:bodyPr wrap="square" lIns="36576" rIns="36576" tIns="18288" bIns="18288" anchor="ctr">
            <a:spAutoFit/>
          </a:bodyPr>
          <a:lstStyle/>
          <a:p>
            <a:pPr algn="ctr">
              <a:spcAft>
                <a:spcPts val="0"/>
              </a:spcAft>
            </a:pPr>
            <a:r>
              <a:rPr sz="1500" b="1">
                <a:solidFill>
                  <a:srgbClr val="4A2608"/>
                </a:solidFill>
                <a:latin typeface="Calibri"/>
              </a:rPr>
              <a:t>You learn</a:t>
            </a:r>
          </a:p>
        </p:txBody>
      </p:sp>
      <p:sp>
        <p:nvSpPr>
          <p:cNvPr id="29" name="Rectangle 28"/>
          <p:cNvSpPr/>
          <p:nvPr/>
        </p:nvSpPr>
        <p:spPr>
          <a:xfrm>
            <a:off x="1828800" y="3977639"/>
            <a:ext cx="1874520" cy="804672"/>
          </a:xfrm>
          <a:prstGeom prst="rect">
            <a:avLst/>
          </a:prstGeom>
          <a:solidFill>
            <a:srgbClr val="FFFFFF"/>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828800" y="3977639"/>
            <a:ext cx="1874520" cy="804672"/>
          </a:xfrm>
          <a:prstGeom prst="rect">
            <a:avLst/>
          </a:prstGeom>
          <a:noFill/>
        </p:spPr>
        <p:txBody>
          <a:bodyPr wrap="square" lIns="36576" rIns="36576" tIns="18288" bIns="18288" anchor="ctr">
            <a:spAutoFit/>
          </a:bodyPr>
          <a:lstStyle/>
          <a:p>
            <a:pPr algn="ctr">
              <a:spcAft>
                <a:spcPts val="0"/>
              </a:spcAft>
            </a:pPr>
            <a:r>
              <a:rPr sz="1500" b="0">
                <a:solidFill>
                  <a:srgbClr val="4A2608"/>
                </a:solidFill>
                <a:latin typeface="Calibri"/>
              </a:rPr>
              <a:t>In hindsight</a:t>
            </a:r>
          </a:p>
        </p:txBody>
      </p:sp>
      <p:sp>
        <p:nvSpPr>
          <p:cNvPr id="31" name="Rectangle 30"/>
          <p:cNvSpPr/>
          <p:nvPr/>
        </p:nvSpPr>
        <p:spPr>
          <a:xfrm>
            <a:off x="3794760" y="3977639"/>
            <a:ext cx="2240280" cy="804672"/>
          </a:xfrm>
          <a:prstGeom prst="rect">
            <a:avLst/>
          </a:prstGeom>
          <a:solidFill>
            <a:srgbClr val="DFF3C7"/>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94760" y="3977639"/>
            <a:ext cx="2240280" cy="804672"/>
          </a:xfrm>
          <a:prstGeom prst="rect">
            <a:avLst/>
          </a:prstGeom>
          <a:noFill/>
        </p:spPr>
        <p:txBody>
          <a:bodyPr wrap="square" lIns="36576" rIns="36576" tIns="18288" bIns="18288" anchor="ctr">
            <a:spAutoFit/>
          </a:bodyPr>
          <a:lstStyle/>
          <a:p>
            <a:pPr algn="ctr">
              <a:spcAft>
                <a:spcPts val="0"/>
              </a:spcAft>
            </a:pPr>
            <a:r>
              <a:rPr sz="1500" b="1">
                <a:solidFill>
                  <a:srgbClr val="4A2608"/>
                </a:solidFill>
                <a:latin typeface="Calibri"/>
              </a:rPr>
              <a:t>Scored against the real signal</a:t>
            </a:r>
          </a:p>
        </p:txBody>
      </p:sp>
      <p:sp>
        <p:nvSpPr>
          <p:cNvPr id="33" name="Rectangle 32"/>
          <p:cNvSpPr/>
          <p:nvPr/>
        </p:nvSpPr>
        <p:spPr>
          <a:xfrm>
            <a:off x="548640" y="4846320"/>
            <a:ext cx="1188720" cy="804672"/>
          </a:xfrm>
          <a:prstGeom prst="rect">
            <a:avLst/>
          </a:prstGeom>
          <a:solidFill>
            <a:srgbClr val="F7C53B"/>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4846320"/>
            <a:ext cx="1188720" cy="804672"/>
          </a:xfrm>
          <a:prstGeom prst="rect">
            <a:avLst/>
          </a:prstGeom>
          <a:noFill/>
        </p:spPr>
        <p:txBody>
          <a:bodyPr wrap="square" lIns="36576" rIns="36576" tIns="18288" bIns="18288" anchor="ctr">
            <a:spAutoFit/>
          </a:bodyPr>
          <a:lstStyle/>
          <a:p>
            <a:pPr algn="ctr">
              <a:spcAft>
                <a:spcPts val="0"/>
              </a:spcAft>
            </a:pPr>
            <a:r>
              <a:rPr sz="1500" b="1">
                <a:solidFill>
                  <a:srgbClr val="4A2608"/>
                </a:solidFill>
                <a:latin typeface="Calibri"/>
              </a:rPr>
              <a:t>You can</a:t>
            </a:r>
          </a:p>
        </p:txBody>
      </p:sp>
      <p:sp>
        <p:nvSpPr>
          <p:cNvPr id="35" name="Rectangle 34"/>
          <p:cNvSpPr/>
          <p:nvPr/>
        </p:nvSpPr>
        <p:spPr>
          <a:xfrm>
            <a:off x="1828800" y="4846320"/>
            <a:ext cx="1874520" cy="804672"/>
          </a:xfrm>
          <a:prstGeom prst="rect">
            <a:avLst/>
          </a:prstGeom>
          <a:solidFill>
            <a:srgbClr val="FFFFFF"/>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828800" y="4846320"/>
            <a:ext cx="1874520" cy="804672"/>
          </a:xfrm>
          <a:prstGeom prst="rect">
            <a:avLst/>
          </a:prstGeom>
          <a:noFill/>
        </p:spPr>
        <p:txBody>
          <a:bodyPr wrap="square" lIns="36576" rIns="36576" tIns="18288" bIns="18288" anchor="ctr">
            <a:spAutoFit/>
          </a:bodyPr>
          <a:lstStyle/>
          <a:p>
            <a:pPr algn="ctr">
              <a:spcAft>
                <a:spcPts val="0"/>
              </a:spcAft>
            </a:pPr>
            <a:r>
              <a:rPr sz="1500" b="0">
                <a:solidFill>
                  <a:srgbClr val="4A2608"/>
                </a:solidFill>
                <a:latin typeface="Calibri"/>
              </a:rPr>
              <a:t>Look again</a:t>
            </a:r>
          </a:p>
        </p:txBody>
      </p:sp>
      <p:sp>
        <p:nvSpPr>
          <p:cNvPr id="37" name="Rectangle 36"/>
          <p:cNvSpPr/>
          <p:nvPr/>
        </p:nvSpPr>
        <p:spPr>
          <a:xfrm>
            <a:off x="3794760" y="4846320"/>
            <a:ext cx="2240280" cy="804672"/>
          </a:xfrm>
          <a:prstGeom prst="rect">
            <a:avLst/>
          </a:prstGeom>
          <a:solidFill>
            <a:srgbClr val="DFF3C7"/>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94760" y="4846320"/>
            <a:ext cx="2240280" cy="804672"/>
          </a:xfrm>
          <a:prstGeom prst="rect">
            <a:avLst/>
          </a:prstGeom>
          <a:noFill/>
        </p:spPr>
        <p:txBody>
          <a:bodyPr wrap="square" lIns="36576" rIns="36576" tIns="18288" bIns="18288" anchor="ctr">
            <a:spAutoFit/>
          </a:bodyPr>
          <a:lstStyle/>
          <a:p>
            <a:pPr algn="ctr">
              <a:spcAft>
                <a:spcPts val="0"/>
              </a:spcAft>
            </a:pPr>
            <a:r>
              <a:rPr sz="1500" b="1">
                <a:solidFill>
                  <a:srgbClr val="4A2608"/>
                </a:solidFill>
                <a:latin typeface="Calibri"/>
              </a:rPr>
              <a:t>Replay, improve, rank</a:t>
            </a:r>
          </a:p>
        </p:txBody>
      </p:sp>
      <p:sp>
        <p:nvSpPr>
          <p:cNvPr id="39" name="Rectangle 38"/>
          <p:cNvSpPr/>
          <p:nvPr/>
        </p:nvSpPr>
        <p:spPr>
          <a:xfrm>
            <a:off x="6675120" y="1645920"/>
            <a:ext cx="1024127" cy="457200"/>
          </a:xfrm>
          <a:prstGeom prst="rect">
            <a:avLst/>
          </a:prstGeom>
          <a:solidFill>
            <a:srgbClr val="4A26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75120" y="1645920"/>
            <a:ext cx="1024127" cy="457200"/>
          </a:xfrm>
          <a:prstGeom prst="rect">
            <a:avLst/>
          </a:prstGeom>
          <a:noFill/>
        </p:spPr>
        <p:txBody>
          <a:bodyPr wrap="square" lIns="36576" rIns="36576" tIns="18288" bIns="18288" anchor="ctr">
            <a:spAutoFit/>
          </a:bodyPr>
          <a:lstStyle/>
          <a:p>
            <a:pPr algn="ctr">
              <a:spcAft>
                <a:spcPts val="0"/>
              </a:spcAft>
            </a:pPr>
            <a:r>
              <a:rPr sz="1000" b="1">
                <a:solidFill>
                  <a:srgbClr val="F7C53B"/>
                </a:solidFill>
                <a:latin typeface="Courier New"/>
              </a:rPr>
              <a:t>Rug</a:t>
            </a:r>
          </a:p>
        </p:txBody>
      </p:sp>
      <p:sp>
        <p:nvSpPr>
          <p:cNvPr id="41" name="Rectangle 40"/>
          <p:cNvSpPr/>
          <p:nvPr/>
        </p:nvSpPr>
        <p:spPr>
          <a:xfrm>
            <a:off x="7726679" y="1645920"/>
            <a:ext cx="886968" cy="457200"/>
          </a:xfrm>
          <a:prstGeom prst="rect">
            <a:avLst/>
          </a:prstGeom>
          <a:solidFill>
            <a:srgbClr val="4A26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26679" y="1645920"/>
            <a:ext cx="886968" cy="457200"/>
          </a:xfrm>
          <a:prstGeom prst="rect">
            <a:avLst/>
          </a:prstGeom>
          <a:noFill/>
        </p:spPr>
        <p:txBody>
          <a:bodyPr wrap="square" lIns="36576" rIns="36576" tIns="18288" bIns="18288" anchor="ctr">
            <a:spAutoFit/>
          </a:bodyPr>
          <a:lstStyle/>
          <a:p>
            <a:pPr algn="ctr">
              <a:spcAft>
                <a:spcPts val="0"/>
              </a:spcAft>
            </a:pPr>
            <a:r>
              <a:rPr sz="1000" b="1">
                <a:solidFill>
                  <a:srgbClr val="F7C53B"/>
                </a:solidFill>
                <a:latin typeface="Courier New"/>
              </a:rPr>
              <a:t>Date</a:t>
            </a:r>
          </a:p>
        </p:txBody>
      </p:sp>
      <p:sp>
        <p:nvSpPr>
          <p:cNvPr id="43" name="Rectangle 42"/>
          <p:cNvSpPr/>
          <p:nvPr/>
        </p:nvSpPr>
        <p:spPr>
          <a:xfrm>
            <a:off x="8641080" y="1645920"/>
            <a:ext cx="978408" cy="457200"/>
          </a:xfrm>
          <a:prstGeom prst="rect">
            <a:avLst/>
          </a:prstGeom>
          <a:solidFill>
            <a:srgbClr val="4A26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41080" y="1645920"/>
            <a:ext cx="978408" cy="457200"/>
          </a:xfrm>
          <a:prstGeom prst="rect">
            <a:avLst/>
          </a:prstGeom>
          <a:noFill/>
        </p:spPr>
        <p:txBody>
          <a:bodyPr wrap="square" lIns="36576" rIns="36576" tIns="18288" bIns="18288" anchor="ctr">
            <a:spAutoFit/>
          </a:bodyPr>
          <a:lstStyle/>
          <a:p>
            <a:pPr algn="ctr">
              <a:spcAft>
                <a:spcPts val="0"/>
              </a:spcAft>
            </a:pPr>
            <a:r>
              <a:rPr sz="1000" b="1">
                <a:solidFill>
                  <a:srgbClr val="F7C53B"/>
                </a:solidFill>
                <a:latin typeface="Courier New"/>
              </a:rPr>
              <a:t>Kind</a:t>
            </a:r>
          </a:p>
        </p:txBody>
      </p:sp>
      <p:sp>
        <p:nvSpPr>
          <p:cNvPr id="45" name="Rectangle 44"/>
          <p:cNvSpPr/>
          <p:nvPr/>
        </p:nvSpPr>
        <p:spPr>
          <a:xfrm>
            <a:off x="9646920" y="1645920"/>
            <a:ext cx="566928" cy="457200"/>
          </a:xfrm>
          <a:prstGeom prst="rect">
            <a:avLst/>
          </a:prstGeom>
          <a:solidFill>
            <a:srgbClr val="4A26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646920" y="1645920"/>
            <a:ext cx="566928" cy="457200"/>
          </a:xfrm>
          <a:prstGeom prst="rect">
            <a:avLst/>
          </a:prstGeom>
          <a:noFill/>
        </p:spPr>
        <p:txBody>
          <a:bodyPr wrap="square" lIns="36576" rIns="36576" tIns="18288" bIns="18288" anchor="ctr">
            <a:spAutoFit/>
          </a:bodyPr>
          <a:lstStyle/>
          <a:p>
            <a:pPr algn="ctr">
              <a:spcAft>
                <a:spcPts val="0"/>
              </a:spcAft>
            </a:pPr>
            <a:r>
              <a:rPr sz="1000" b="1">
                <a:solidFill>
                  <a:srgbClr val="F7C53B"/>
                </a:solidFill>
                <a:latin typeface="Courier New"/>
              </a:rPr>
              <a:t>Ticks</a:t>
            </a:r>
          </a:p>
        </p:txBody>
      </p:sp>
      <p:sp>
        <p:nvSpPr>
          <p:cNvPr id="47" name="Rectangle 46"/>
          <p:cNvSpPr/>
          <p:nvPr/>
        </p:nvSpPr>
        <p:spPr>
          <a:xfrm>
            <a:off x="10241280" y="1645920"/>
            <a:ext cx="704088" cy="457200"/>
          </a:xfrm>
          <a:prstGeom prst="rect">
            <a:avLst/>
          </a:prstGeom>
          <a:solidFill>
            <a:srgbClr val="4A26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241280" y="1645920"/>
            <a:ext cx="704088" cy="457200"/>
          </a:xfrm>
          <a:prstGeom prst="rect">
            <a:avLst/>
          </a:prstGeom>
          <a:noFill/>
        </p:spPr>
        <p:txBody>
          <a:bodyPr wrap="square" lIns="36576" rIns="36576" tIns="18288" bIns="18288" anchor="ctr">
            <a:spAutoFit/>
          </a:bodyPr>
          <a:lstStyle/>
          <a:p>
            <a:pPr algn="ctr">
              <a:spcAft>
                <a:spcPts val="0"/>
              </a:spcAft>
            </a:pPr>
            <a:r>
              <a:rPr sz="1000" b="1">
                <a:solidFill>
                  <a:srgbClr val="F7C53B"/>
                </a:solidFill>
                <a:latin typeface="Courier New"/>
              </a:rPr>
              <a:t>Events</a:t>
            </a:r>
          </a:p>
        </p:txBody>
      </p:sp>
      <p:sp>
        <p:nvSpPr>
          <p:cNvPr id="49" name="Rectangle 48"/>
          <p:cNvSpPr/>
          <p:nvPr/>
        </p:nvSpPr>
        <p:spPr>
          <a:xfrm>
            <a:off x="10972800" y="1645920"/>
            <a:ext cx="658368" cy="457200"/>
          </a:xfrm>
          <a:prstGeom prst="rect">
            <a:avLst/>
          </a:prstGeom>
          <a:solidFill>
            <a:srgbClr val="4A26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972800" y="1645920"/>
            <a:ext cx="658368" cy="457200"/>
          </a:xfrm>
          <a:prstGeom prst="rect">
            <a:avLst/>
          </a:prstGeom>
          <a:noFill/>
        </p:spPr>
        <p:txBody>
          <a:bodyPr wrap="square" lIns="36576" rIns="36576" tIns="18288" bIns="18288" anchor="ctr">
            <a:spAutoFit/>
          </a:bodyPr>
          <a:lstStyle/>
          <a:p>
            <a:pPr algn="ctr">
              <a:spcAft>
                <a:spcPts val="0"/>
              </a:spcAft>
            </a:pPr>
            <a:r>
              <a:rPr sz="1000" b="1">
                <a:solidFill>
                  <a:srgbClr val="F7C53B"/>
                </a:solidFill>
                <a:latin typeface="Courier New"/>
              </a:rPr>
              <a:t>Run</a:t>
            </a:r>
          </a:p>
        </p:txBody>
      </p:sp>
      <p:sp>
        <p:nvSpPr>
          <p:cNvPr id="51" name="Rectangle 50"/>
          <p:cNvSpPr/>
          <p:nvPr/>
        </p:nvSpPr>
        <p:spPr>
          <a:xfrm>
            <a:off x="6675120" y="2194560"/>
            <a:ext cx="1024127" cy="621792"/>
          </a:xfrm>
          <a:prstGeom prst="rect">
            <a:avLst/>
          </a:prstGeom>
          <a:solidFill>
            <a:srgbClr val="FFFFFF"/>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675120" y="2194560"/>
            <a:ext cx="1024127" cy="621792"/>
          </a:xfrm>
          <a:prstGeom prst="rect">
            <a:avLst/>
          </a:prstGeom>
          <a:noFill/>
        </p:spPr>
        <p:txBody>
          <a:bodyPr wrap="square" lIns="36576" rIns="36576" tIns="18288" bIns="18288" anchor="ctr">
            <a:spAutoFit/>
          </a:bodyPr>
          <a:lstStyle/>
          <a:p>
            <a:pPr algn="ctr">
              <a:spcAft>
                <a:spcPts val="0"/>
              </a:spcAft>
            </a:pPr>
            <a:r>
              <a:rPr sz="1200" b="1">
                <a:solidFill>
                  <a:srgbClr val="4A2608"/>
                </a:solidFill>
                <a:latin typeface="Calibri"/>
              </a:rPr>
              <a:t>LIBRA</a:t>
            </a:r>
          </a:p>
        </p:txBody>
      </p:sp>
      <p:sp>
        <p:nvSpPr>
          <p:cNvPr id="53" name="Rectangle 52"/>
          <p:cNvSpPr/>
          <p:nvPr/>
        </p:nvSpPr>
        <p:spPr>
          <a:xfrm>
            <a:off x="7726679" y="2194560"/>
            <a:ext cx="886968" cy="621792"/>
          </a:xfrm>
          <a:prstGeom prst="rect">
            <a:avLst/>
          </a:prstGeom>
          <a:solidFill>
            <a:srgbClr val="FFFFFF"/>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26679" y="2194560"/>
            <a:ext cx="886968" cy="621792"/>
          </a:xfrm>
          <a:prstGeom prst="rect">
            <a:avLst/>
          </a:prstGeom>
          <a:noFill/>
        </p:spPr>
        <p:txBody>
          <a:bodyPr wrap="square" lIns="36576" rIns="36576" tIns="18288" bIns="18288" anchor="ctr">
            <a:spAutoFit/>
          </a:bodyPr>
          <a:lstStyle/>
          <a:p>
            <a:pPr algn="ctr">
              <a:spcAft>
                <a:spcPts val="0"/>
              </a:spcAft>
            </a:pPr>
            <a:r>
              <a:rPr sz="1100" b="0">
                <a:solidFill>
                  <a:srgbClr val="4A2608"/>
                </a:solidFill>
                <a:latin typeface="Calibri"/>
              </a:rPr>
              <a:t>14 Feb 25</a:t>
            </a:r>
          </a:p>
        </p:txBody>
      </p:sp>
      <p:sp>
        <p:nvSpPr>
          <p:cNvPr id="55" name="Rectangle 54"/>
          <p:cNvSpPr/>
          <p:nvPr/>
        </p:nvSpPr>
        <p:spPr>
          <a:xfrm>
            <a:off x="8641080" y="2194560"/>
            <a:ext cx="978408" cy="621792"/>
          </a:xfrm>
          <a:prstGeom prst="rect">
            <a:avLst/>
          </a:prstGeom>
          <a:solidFill>
            <a:srgbClr val="FFFFFF"/>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641080" y="2194560"/>
            <a:ext cx="978408" cy="621792"/>
          </a:xfrm>
          <a:prstGeom prst="rect">
            <a:avLst/>
          </a:prstGeom>
          <a:noFill/>
        </p:spPr>
        <p:txBody>
          <a:bodyPr wrap="square" lIns="36576" rIns="36576" tIns="18288" bIns="18288" anchor="ctr">
            <a:spAutoFit/>
          </a:bodyPr>
          <a:lstStyle/>
          <a:p>
            <a:pPr algn="ctr">
              <a:spcAft>
                <a:spcPts val="0"/>
              </a:spcAft>
            </a:pPr>
            <a:r>
              <a:rPr sz="1100" b="0">
                <a:solidFill>
                  <a:srgbClr val="4A2608"/>
                </a:solidFill>
                <a:latin typeface="Calibri"/>
              </a:rPr>
              <a:t>Historical</a:t>
            </a:r>
          </a:p>
        </p:txBody>
      </p:sp>
      <p:sp>
        <p:nvSpPr>
          <p:cNvPr id="57" name="Rectangle 56"/>
          <p:cNvSpPr/>
          <p:nvPr/>
        </p:nvSpPr>
        <p:spPr>
          <a:xfrm>
            <a:off x="9646920" y="2194560"/>
            <a:ext cx="566928" cy="621792"/>
          </a:xfrm>
          <a:prstGeom prst="rect">
            <a:avLst/>
          </a:prstGeom>
          <a:solidFill>
            <a:srgbClr val="FFFFFF"/>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646920" y="2194560"/>
            <a:ext cx="566928" cy="621792"/>
          </a:xfrm>
          <a:prstGeom prst="rect">
            <a:avLst/>
          </a:prstGeom>
          <a:noFill/>
        </p:spPr>
        <p:txBody>
          <a:bodyPr wrap="square" lIns="36576" rIns="36576" tIns="18288" bIns="18288" anchor="ctr">
            <a:spAutoFit/>
          </a:bodyPr>
          <a:lstStyle/>
          <a:p>
            <a:pPr algn="ctr">
              <a:spcAft>
                <a:spcPts val="0"/>
              </a:spcAft>
            </a:pPr>
            <a:r>
              <a:rPr sz="1100" b="0">
                <a:solidFill>
                  <a:srgbClr val="4A2608"/>
                </a:solidFill>
                <a:latin typeface="Calibri"/>
              </a:rPr>
              <a:t>182</a:t>
            </a:r>
          </a:p>
        </p:txBody>
      </p:sp>
      <p:sp>
        <p:nvSpPr>
          <p:cNvPr id="59" name="Rectangle 58"/>
          <p:cNvSpPr/>
          <p:nvPr/>
        </p:nvSpPr>
        <p:spPr>
          <a:xfrm>
            <a:off x="10241280" y="2194560"/>
            <a:ext cx="704088" cy="621792"/>
          </a:xfrm>
          <a:prstGeom prst="rect">
            <a:avLst/>
          </a:prstGeom>
          <a:solidFill>
            <a:srgbClr val="FFFFFF"/>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241280" y="2194560"/>
            <a:ext cx="704088" cy="621792"/>
          </a:xfrm>
          <a:prstGeom prst="rect">
            <a:avLst/>
          </a:prstGeom>
          <a:noFill/>
        </p:spPr>
        <p:txBody>
          <a:bodyPr wrap="square" lIns="36576" rIns="36576" tIns="18288" bIns="18288" anchor="ctr">
            <a:spAutoFit/>
          </a:bodyPr>
          <a:lstStyle/>
          <a:p>
            <a:pPr algn="ctr">
              <a:spcAft>
                <a:spcPts val="0"/>
              </a:spcAft>
            </a:pPr>
            <a:r>
              <a:rPr sz="1100" b="0">
                <a:solidFill>
                  <a:srgbClr val="4A2608"/>
                </a:solidFill>
                <a:latin typeface="Calibri"/>
              </a:rPr>
              <a:t>35</a:t>
            </a:r>
          </a:p>
        </p:txBody>
      </p:sp>
      <p:sp>
        <p:nvSpPr>
          <p:cNvPr id="61" name="Rectangle 60"/>
          <p:cNvSpPr/>
          <p:nvPr/>
        </p:nvSpPr>
        <p:spPr>
          <a:xfrm>
            <a:off x="10972800" y="2194560"/>
            <a:ext cx="658368" cy="621792"/>
          </a:xfrm>
          <a:prstGeom prst="rect">
            <a:avLst/>
          </a:prstGeom>
          <a:solidFill>
            <a:srgbClr val="FFFFFF"/>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0972800" y="2194560"/>
            <a:ext cx="658368" cy="621792"/>
          </a:xfrm>
          <a:prstGeom prst="rect">
            <a:avLst/>
          </a:prstGeom>
          <a:noFill/>
        </p:spPr>
        <p:txBody>
          <a:bodyPr wrap="square" lIns="36576" rIns="36576" tIns="18288" bIns="18288" anchor="ctr">
            <a:spAutoFit/>
          </a:bodyPr>
          <a:lstStyle/>
          <a:p>
            <a:pPr algn="ctr">
              <a:spcAft>
                <a:spcPts val="0"/>
              </a:spcAft>
            </a:pPr>
            <a:r>
              <a:rPr sz="1100" b="0">
                <a:solidFill>
                  <a:srgbClr val="4A2608"/>
                </a:solidFill>
                <a:latin typeface="Calibri"/>
              </a:rPr>
              <a:t>~1 min</a:t>
            </a:r>
          </a:p>
        </p:txBody>
      </p:sp>
      <p:sp>
        <p:nvSpPr>
          <p:cNvPr id="63" name="Rectangle 62"/>
          <p:cNvSpPr/>
          <p:nvPr/>
        </p:nvSpPr>
        <p:spPr>
          <a:xfrm>
            <a:off x="6675120" y="2880360"/>
            <a:ext cx="1024127" cy="621792"/>
          </a:xfrm>
          <a:prstGeom prst="rect">
            <a:avLst/>
          </a:prstGeom>
          <a:solidFill>
            <a:srgbClr val="FFFFFF"/>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675120" y="2880360"/>
            <a:ext cx="1024127" cy="621792"/>
          </a:xfrm>
          <a:prstGeom prst="rect">
            <a:avLst/>
          </a:prstGeom>
          <a:noFill/>
        </p:spPr>
        <p:txBody>
          <a:bodyPr wrap="square" lIns="36576" rIns="36576" tIns="18288" bIns="18288" anchor="ctr">
            <a:spAutoFit/>
          </a:bodyPr>
          <a:lstStyle/>
          <a:p>
            <a:pPr algn="ctr">
              <a:spcAft>
                <a:spcPts val="0"/>
              </a:spcAft>
            </a:pPr>
            <a:r>
              <a:rPr sz="1200" b="1">
                <a:solidFill>
                  <a:srgbClr val="4A2608"/>
                </a:solidFill>
                <a:latin typeface="Calibri"/>
              </a:rPr>
              <a:t>BARRON</a:t>
            </a:r>
          </a:p>
        </p:txBody>
      </p:sp>
      <p:sp>
        <p:nvSpPr>
          <p:cNvPr id="65" name="Rectangle 64"/>
          <p:cNvSpPr/>
          <p:nvPr/>
        </p:nvSpPr>
        <p:spPr>
          <a:xfrm>
            <a:off x="7726679" y="2880360"/>
            <a:ext cx="886968" cy="621792"/>
          </a:xfrm>
          <a:prstGeom prst="rect">
            <a:avLst/>
          </a:prstGeom>
          <a:solidFill>
            <a:srgbClr val="FFFFFF"/>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726679" y="2880360"/>
            <a:ext cx="886968" cy="621792"/>
          </a:xfrm>
          <a:prstGeom prst="rect">
            <a:avLst/>
          </a:prstGeom>
          <a:noFill/>
        </p:spPr>
        <p:txBody>
          <a:bodyPr wrap="square" lIns="36576" rIns="36576" tIns="18288" bIns="18288" anchor="ctr">
            <a:spAutoFit/>
          </a:bodyPr>
          <a:lstStyle/>
          <a:p>
            <a:pPr algn="ctr">
              <a:spcAft>
                <a:spcPts val="0"/>
              </a:spcAft>
            </a:pPr>
            <a:r>
              <a:rPr sz="1100" b="0">
                <a:solidFill>
                  <a:srgbClr val="4A2608"/>
                </a:solidFill>
                <a:latin typeface="Calibri"/>
              </a:rPr>
              <a:t>20 Jan 25</a:t>
            </a:r>
          </a:p>
        </p:txBody>
      </p:sp>
      <p:sp>
        <p:nvSpPr>
          <p:cNvPr id="67" name="Rectangle 66"/>
          <p:cNvSpPr/>
          <p:nvPr/>
        </p:nvSpPr>
        <p:spPr>
          <a:xfrm>
            <a:off x="8641080" y="2880360"/>
            <a:ext cx="978408" cy="621792"/>
          </a:xfrm>
          <a:prstGeom prst="rect">
            <a:avLst/>
          </a:prstGeom>
          <a:solidFill>
            <a:srgbClr val="FFFFFF"/>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641080" y="2880360"/>
            <a:ext cx="978408" cy="621792"/>
          </a:xfrm>
          <a:prstGeom prst="rect">
            <a:avLst/>
          </a:prstGeom>
          <a:noFill/>
        </p:spPr>
        <p:txBody>
          <a:bodyPr wrap="square" lIns="36576" rIns="36576" tIns="18288" bIns="18288" anchor="ctr">
            <a:spAutoFit/>
          </a:bodyPr>
          <a:lstStyle/>
          <a:p>
            <a:pPr algn="ctr">
              <a:spcAft>
                <a:spcPts val="0"/>
              </a:spcAft>
            </a:pPr>
            <a:r>
              <a:rPr sz="1100" b="0">
                <a:solidFill>
                  <a:srgbClr val="4A2608"/>
                </a:solidFill>
                <a:latin typeface="Calibri"/>
              </a:rPr>
              <a:t>Fast dump</a:t>
            </a:r>
          </a:p>
        </p:txBody>
      </p:sp>
      <p:sp>
        <p:nvSpPr>
          <p:cNvPr id="69" name="Rectangle 68"/>
          <p:cNvSpPr/>
          <p:nvPr/>
        </p:nvSpPr>
        <p:spPr>
          <a:xfrm>
            <a:off x="9646920" y="2880360"/>
            <a:ext cx="566928" cy="621792"/>
          </a:xfrm>
          <a:prstGeom prst="rect">
            <a:avLst/>
          </a:prstGeom>
          <a:solidFill>
            <a:srgbClr val="FFFFFF"/>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646920" y="2880360"/>
            <a:ext cx="566928" cy="621792"/>
          </a:xfrm>
          <a:prstGeom prst="rect">
            <a:avLst/>
          </a:prstGeom>
          <a:noFill/>
        </p:spPr>
        <p:txBody>
          <a:bodyPr wrap="square" lIns="36576" rIns="36576" tIns="18288" bIns="18288" anchor="ctr">
            <a:spAutoFit/>
          </a:bodyPr>
          <a:lstStyle/>
          <a:p>
            <a:pPr algn="ctr">
              <a:spcAft>
                <a:spcPts val="0"/>
              </a:spcAft>
            </a:pPr>
            <a:r>
              <a:rPr sz="1100" b="0">
                <a:solidFill>
                  <a:srgbClr val="4A2608"/>
                </a:solidFill>
                <a:latin typeface="Calibri"/>
              </a:rPr>
              <a:t>181</a:t>
            </a:r>
          </a:p>
        </p:txBody>
      </p:sp>
      <p:sp>
        <p:nvSpPr>
          <p:cNvPr id="71" name="Rectangle 70"/>
          <p:cNvSpPr/>
          <p:nvPr/>
        </p:nvSpPr>
        <p:spPr>
          <a:xfrm>
            <a:off x="10241280" y="2880360"/>
            <a:ext cx="704088" cy="621792"/>
          </a:xfrm>
          <a:prstGeom prst="rect">
            <a:avLst/>
          </a:prstGeom>
          <a:solidFill>
            <a:srgbClr val="FFFFFF"/>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0241280" y="2880360"/>
            <a:ext cx="704088" cy="621792"/>
          </a:xfrm>
          <a:prstGeom prst="rect">
            <a:avLst/>
          </a:prstGeom>
          <a:noFill/>
        </p:spPr>
        <p:txBody>
          <a:bodyPr wrap="square" lIns="36576" rIns="36576" tIns="18288" bIns="18288" anchor="ctr">
            <a:spAutoFit/>
          </a:bodyPr>
          <a:lstStyle/>
          <a:p>
            <a:pPr algn="ctr">
              <a:spcAft>
                <a:spcPts val="0"/>
              </a:spcAft>
            </a:pPr>
            <a:r>
              <a:rPr sz="1100" b="0">
                <a:solidFill>
                  <a:srgbClr val="4A2608"/>
                </a:solidFill>
                <a:latin typeface="Calibri"/>
              </a:rPr>
              <a:t>25</a:t>
            </a:r>
          </a:p>
        </p:txBody>
      </p:sp>
      <p:sp>
        <p:nvSpPr>
          <p:cNvPr id="73" name="Rectangle 72"/>
          <p:cNvSpPr/>
          <p:nvPr/>
        </p:nvSpPr>
        <p:spPr>
          <a:xfrm>
            <a:off x="10972800" y="2880360"/>
            <a:ext cx="658368" cy="621792"/>
          </a:xfrm>
          <a:prstGeom prst="rect">
            <a:avLst/>
          </a:prstGeom>
          <a:solidFill>
            <a:srgbClr val="FFFFFF"/>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0972800" y="2880360"/>
            <a:ext cx="658368" cy="621792"/>
          </a:xfrm>
          <a:prstGeom prst="rect">
            <a:avLst/>
          </a:prstGeom>
          <a:noFill/>
        </p:spPr>
        <p:txBody>
          <a:bodyPr wrap="square" lIns="36576" rIns="36576" tIns="18288" bIns="18288" anchor="ctr">
            <a:spAutoFit/>
          </a:bodyPr>
          <a:lstStyle/>
          <a:p>
            <a:pPr algn="ctr">
              <a:spcAft>
                <a:spcPts val="0"/>
              </a:spcAft>
            </a:pPr>
            <a:r>
              <a:rPr sz="1100" b="0">
                <a:solidFill>
                  <a:srgbClr val="4A2608"/>
                </a:solidFill>
                <a:latin typeface="Calibri"/>
              </a:rPr>
              <a:t>~1 min</a:t>
            </a:r>
          </a:p>
        </p:txBody>
      </p:sp>
      <p:sp>
        <p:nvSpPr>
          <p:cNvPr id="75" name="Rectangle 74"/>
          <p:cNvSpPr/>
          <p:nvPr/>
        </p:nvSpPr>
        <p:spPr>
          <a:xfrm>
            <a:off x="6675120" y="3566160"/>
            <a:ext cx="1024127" cy="621792"/>
          </a:xfrm>
          <a:prstGeom prst="rect">
            <a:avLst/>
          </a:prstGeom>
          <a:solidFill>
            <a:srgbClr val="FFFFFF"/>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675120" y="3566160"/>
            <a:ext cx="1024127" cy="621792"/>
          </a:xfrm>
          <a:prstGeom prst="rect">
            <a:avLst/>
          </a:prstGeom>
          <a:noFill/>
        </p:spPr>
        <p:txBody>
          <a:bodyPr wrap="square" lIns="36576" rIns="36576" tIns="18288" bIns="18288" anchor="ctr">
            <a:spAutoFit/>
          </a:bodyPr>
          <a:lstStyle/>
          <a:p>
            <a:pPr algn="ctr">
              <a:spcAft>
                <a:spcPts val="0"/>
              </a:spcAft>
            </a:pPr>
            <a:r>
              <a:rPr sz="1200" b="1">
                <a:solidFill>
                  <a:srgbClr val="4A2608"/>
                </a:solidFill>
                <a:latin typeface="Calibri"/>
              </a:rPr>
              <a:t>MELANIA</a:t>
            </a:r>
          </a:p>
        </p:txBody>
      </p:sp>
      <p:sp>
        <p:nvSpPr>
          <p:cNvPr id="77" name="Rectangle 76"/>
          <p:cNvSpPr/>
          <p:nvPr/>
        </p:nvSpPr>
        <p:spPr>
          <a:xfrm>
            <a:off x="7726679" y="3566160"/>
            <a:ext cx="886968" cy="621792"/>
          </a:xfrm>
          <a:prstGeom prst="rect">
            <a:avLst/>
          </a:prstGeom>
          <a:solidFill>
            <a:srgbClr val="FFFFFF"/>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726679" y="3566160"/>
            <a:ext cx="886968" cy="621792"/>
          </a:xfrm>
          <a:prstGeom prst="rect">
            <a:avLst/>
          </a:prstGeom>
          <a:noFill/>
        </p:spPr>
        <p:txBody>
          <a:bodyPr wrap="square" lIns="36576" rIns="36576" tIns="18288" bIns="18288" anchor="ctr">
            <a:spAutoFit/>
          </a:bodyPr>
          <a:lstStyle/>
          <a:p>
            <a:pPr algn="ctr">
              <a:spcAft>
                <a:spcPts val="0"/>
              </a:spcAft>
            </a:pPr>
            <a:r>
              <a:rPr sz="1100" b="0">
                <a:solidFill>
                  <a:srgbClr val="4A2608"/>
                </a:solidFill>
                <a:latin typeface="Calibri"/>
              </a:rPr>
              <a:t>19 Jan 25</a:t>
            </a:r>
          </a:p>
        </p:txBody>
      </p:sp>
      <p:sp>
        <p:nvSpPr>
          <p:cNvPr id="79" name="Rectangle 78"/>
          <p:cNvSpPr/>
          <p:nvPr/>
        </p:nvSpPr>
        <p:spPr>
          <a:xfrm>
            <a:off x="8641080" y="3566160"/>
            <a:ext cx="978408" cy="621792"/>
          </a:xfrm>
          <a:prstGeom prst="rect">
            <a:avLst/>
          </a:prstGeom>
          <a:solidFill>
            <a:srgbClr val="FFFFFF"/>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641080" y="3566160"/>
            <a:ext cx="978408" cy="621792"/>
          </a:xfrm>
          <a:prstGeom prst="rect">
            <a:avLst/>
          </a:prstGeom>
          <a:noFill/>
        </p:spPr>
        <p:txBody>
          <a:bodyPr wrap="square" lIns="36576" rIns="36576" tIns="18288" bIns="18288" anchor="ctr">
            <a:spAutoFit/>
          </a:bodyPr>
          <a:lstStyle/>
          <a:p>
            <a:pPr algn="ctr">
              <a:spcAft>
                <a:spcPts val="0"/>
              </a:spcAft>
            </a:pPr>
            <a:r>
              <a:rPr sz="1100" b="0">
                <a:solidFill>
                  <a:srgbClr val="4A2608"/>
                </a:solidFill>
                <a:latin typeface="Calibri"/>
              </a:rPr>
              <a:t>Slow bleed</a:t>
            </a:r>
          </a:p>
        </p:txBody>
      </p:sp>
      <p:sp>
        <p:nvSpPr>
          <p:cNvPr id="81" name="Rectangle 80"/>
          <p:cNvSpPr/>
          <p:nvPr/>
        </p:nvSpPr>
        <p:spPr>
          <a:xfrm>
            <a:off x="9646920" y="3566160"/>
            <a:ext cx="566928" cy="621792"/>
          </a:xfrm>
          <a:prstGeom prst="rect">
            <a:avLst/>
          </a:prstGeom>
          <a:solidFill>
            <a:srgbClr val="FFFFFF"/>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9646920" y="3566160"/>
            <a:ext cx="566928" cy="621792"/>
          </a:xfrm>
          <a:prstGeom prst="rect">
            <a:avLst/>
          </a:prstGeom>
          <a:noFill/>
        </p:spPr>
        <p:txBody>
          <a:bodyPr wrap="square" lIns="36576" rIns="36576" tIns="18288" bIns="18288" anchor="ctr">
            <a:spAutoFit/>
          </a:bodyPr>
          <a:lstStyle/>
          <a:p>
            <a:pPr algn="ctr">
              <a:spcAft>
                <a:spcPts val="0"/>
              </a:spcAft>
            </a:pPr>
            <a:r>
              <a:rPr sz="1100" b="0">
                <a:solidFill>
                  <a:srgbClr val="4A2608"/>
                </a:solidFill>
                <a:latin typeface="Calibri"/>
              </a:rPr>
              <a:t>321</a:t>
            </a:r>
          </a:p>
        </p:txBody>
      </p:sp>
      <p:sp>
        <p:nvSpPr>
          <p:cNvPr id="83" name="Rectangle 82"/>
          <p:cNvSpPr/>
          <p:nvPr/>
        </p:nvSpPr>
        <p:spPr>
          <a:xfrm>
            <a:off x="10241280" y="3566160"/>
            <a:ext cx="704088" cy="621792"/>
          </a:xfrm>
          <a:prstGeom prst="rect">
            <a:avLst/>
          </a:prstGeom>
          <a:solidFill>
            <a:srgbClr val="FFFFFF"/>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0241280" y="3566160"/>
            <a:ext cx="704088" cy="621792"/>
          </a:xfrm>
          <a:prstGeom prst="rect">
            <a:avLst/>
          </a:prstGeom>
          <a:noFill/>
        </p:spPr>
        <p:txBody>
          <a:bodyPr wrap="square" lIns="36576" rIns="36576" tIns="18288" bIns="18288" anchor="ctr">
            <a:spAutoFit/>
          </a:bodyPr>
          <a:lstStyle/>
          <a:p>
            <a:pPr algn="ctr">
              <a:spcAft>
                <a:spcPts val="0"/>
              </a:spcAft>
            </a:pPr>
            <a:r>
              <a:rPr sz="1100" b="0">
                <a:solidFill>
                  <a:srgbClr val="4A2608"/>
                </a:solidFill>
                <a:latin typeface="Calibri"/>
              </a:rPr>
              <a:t>21</a:t>
            </a:r>
          </a:p>
        </p:txBody>
      </p:sp>
      <p:sp>
        <p:nvSpPr>
          <p:cNvPr id="85" name="Rectangle 84"/>
          <p:cNvSpPr/>
          <p:nvPr/>
        </p:nvSpPr>
        <p:spPr>
          <a:xfrm>
            <a:off x="10972800" y="3566160"/>
            <a:ext cx="658368" cy="621792"/>
          </a:xfrm>
          <a:prstGeom prst="rect">
            <a:avLst/>
          </a:prstGeom>
          <a:solidFill>
            <a:srgbClr val="FFFFFF"/>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0972800" y="3566160"/>
            <a:ext cx="658368" cy="621792"/>
          </a:xfrm>
          <a:prstGeom prst="rect">
            <a:avLst/>
          </a:prstGeom>
          <a:noFill/>
        </p:spPr>
        <p:txBody>
          <a:bodyPr wrap="square" lIns="36576" rIns="36576" tIns="18288" bIns="18288" anchor="ctr">
            <a:spAutoFit/>
          </a:bodyPr>
          <a:lstStyle/>
          <a:p>
            <a:pPr algn="ctr">
              <a:spcAft>
                <a:spcPts val="0"/>
              </a:spcAft>
            </a:pPr>
            <a:r>
              <a:rPr sz="1100" b="0">
                <a:solidFill>
                  <a:srgbClr val="4A2608"/>
                </a:solidFill>
                <a:latin typeface="Calibri"/>
              </a:rPr>
              <a:t>~1 min</a:t>
            </a:r>
          </a:p>
        </p:txBody>
      </p:sp>
      <p:sp>
        <p:nvSpPr>
          <p:cNvPr id="87" name="Rectangle 86"/>
          <p:cNvSpPr/>
          <p:nvPr/>
        </p:nvSpPr>
        <p:spPr>
          <a:xfrm>
            <a:off x="6675120" y="4251960"/>
            <a:ext cx="1024127" cy="621792"/>
          </a:xfrm>
          <a:prstGeom prst="rect">
            <a:avLst/>
          </a:prstGeom>
          <a:solidFill>
            <a:srgbClr val="FFFFFF"/>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675120" y="4251960"/>
            <a:ext cx="1024127" cy="621792"/>
          </a:xfrm>
          <a:prstGeom prst="rect">
            <a:avLst/>
          </a:prstGeom>
          <a:noFill/>
        </p:spPr>
        <p:txBody>
          <a:bodyPr wrap="square" lIns="36576" rIns="36576" tIns="18288" bIns="18288" anchor="ctr">
            <a:spAutoFit/>
          </a:bodyPr>
          <a:lstStyle/>
          <a:p>
            <a:pPr algn="ctr">
              <a:spcAft>
                <a:spcPts val="0"/>
              </a:spcAft>
            </a:pPr>
            <a:r>
              <a:rPr sz="1200" b="1">
                <a:solidFill>
                  <a:srgbClr val="4A2608"/>
                </a:solidFill>
                <a:latin typeface="Calibri"/>
              </a:rPr>
              <a:t>HAWK</a:t>
            </a:r>
          </a:p>
        </p:txBody>
      </p:sp>
      <p:sp>
        <p:nvSpPr>
          <p:cNvPr id="89" name="Rectangle 88"/>
          <p:cNvSpPr/>
          <p:nvPr/>
        </p:nvSpPr>
        <p:spPr>
          <a:xfrm>
            <a:off x="7726679" y="4251960"/>
            <a:ext cx="886968" cy="621792"/>
          </a:xfrm>
          <a:prstGeom prst="rect">
            <a:avLst/>
          </a:prstGeom>
          <a:solidFill>
            <a:srgbClr val="FFFFFF"/>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7726679" y="4251960"/>
            <a:ext cx="886968" cy="621792"/>
          </a:xfrm>
          <a:prstGeom prst="rect">
            <a:avLst/>
          </a:prstGeom>
          <a:noFill/>
        </p:spPr>
        <p:txBody>
          <a:bodyPr wrap="square" lIns="36576" rIns="36576" tIns="18288" bIns="18288" anchor="ctr">
            <a:spAutoFit/>
          </a:bodyPr>
          <a:lstStyle/>
          <a:p>
            <a:pPr algn="ctr">
              <a:spcAft>
                <a:spcPts val="0"/>
              </a:spcAft>
            </a:pPr>
            <a:r>
              <a:rPr sz="1100" b="0">
                <a:solidFill>
                  <a:srgbClr val="4A2608"/>
                </a:solidFill>
                <a:latin typeface="Calibri"/>
              </a:rPr>
              <a:t>4 Dec 24</a:t>
            </a:r>
          </a:p>
        </p:txBody>
      </p:sp>
      <p:sp>
        <p:nvSpPr>
          <p:cNvPr id="91" name="Rectangle 90"/>
          <p:cNvSpPr/>
          <p:nvPr/>
        </p:nvSpPr>
        <p:spPr>
          <a:xfrm>
            <a:off x="8641080" y="4251960"/>
            <a:ext cx="978408" cy="621792"/>
          </a:xfrm>
          <a:prstGeom prst="rect">
            <a:avLst/>
          </a:prstGeom>
          <a:solidFill>
            <a:srgbClr val="FFFFFF"/>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641080" y="4251960"/>
            <a:ext cx="978408" cy="621792"/>
          </a:xfrm>
          <a:prstGeom prst="rect">
            <a:avLst/>
          </a:prstGeom>
          <a:noFill/>
        </p:spPr>
        <p:txBody>
          <a:bodyPr wrap="square" lIns="36576" rIns="36576" tIns="18288" bIns="18288" anchor="ctr">
            <a:spAutoFit/>
          </a:bodyPr>
          <a:lstStyle/>
          <a:p>
            <a:pPr algn="ctr">
              <a:spcAft>
                <a:spcPts val="0"/>
              </a:spcAft>
            </a:pPr>
            <a:r>
              <a:rPr sz="1100" b="0">
                <a:solidFill>
                  <a:srgbClr val="4A2608"/>
                </a:solidFill>
                <a:latin typeface="Calibri"/>
              </a:rPr>
              <a:t>Dev exit</a:t>
            </a:r>
          </a:p>
        </p:txBody>
      </p:sp>
      <p:sp>
        <p:nvSpPr>
          <p:cNvPr id="93" name="Rectangle 92"/>
          <p:cNvSpPr/>
          <p:nvPr/>
        </p:nvSpPr>
        <p:spPr>
          <a:xfrm>
            <a:off x="9646920" y="4251960"/>
            <a:ext cx="566928" cy="621792"/>
          </a:xfrm>
          <a:prstGeom prst="rect">
            <a:avLst/>
          </a:prstGeom>
          <a:solidFill>
            <a:srgbClr val="FFFFFF"/>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9646920" y="4251960"/>
            <a:ext cx="566928" cy="621792"/>
          </a:xfrm>
          <a:prstGeom prst="rect">
            <a:avLst/>
          </a:prstGeom>
          <a:noFill/>
        </p:spPr>
        <p:txBody>
          <a:bodyPr wrap="square" lIns="36576" rIns="36576" tIns="18288" bIns="18288" anchor="ctr">
            <a:spAutoFit/>
          </a:bodyPr>
          <a:lstStyle/>
          <a:p>
            <a:pPr algn="ctr">
              <a:spcAft>
                <a:spcPts val="0"/>
              </a:spcAft>
            </a:pPr>
            <a:r>
              <a:rPr sz="1100" b="0">
                <a:solidFill>
                  <a:srgbClr val="4A2608"/>
                </a:solidFill>
                <a:latin typeface="Calibri"/>
              </a:rPr>
              <a:t>208</a:t>
            </a:r>
          </a:p>
        </p:txBody>
      </p:sp>
      <p:sp>
        <p:nvSpPr>
          <p:cNvPr id="95" name="Rectangle 94"/>
          <p:cNvSpPr/>
          <p:nvPr/>
        </p:nvSpPr>
        <p:spPr>
          <a:xfrm>
            <a:off x="10241280" y="4251960"/>
            <a:ext cx="704088" cy="621792"/>
          </a:xfrm>
          <a:prstGeom prst="rect">
            <a:avLst/>
          </a:prstGeom>
          <a:solidFill>
            <a:srgbClr val="FFFFFF"/>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0241280" y="4251960"/>
            <a:ext cx="704088" cy="621792"/>
          </a:xfrm>
          <a:prstGeom prst="rect">
            <a:avLst/>
          </a:prstGeom>
          <a:noFill/>
        </p:spPr>
        <p:txBody>
          <a:bodyPr wrap="square" lIns="36576" rIns="36576" tIns="18288" bIns="18288" anchor="ctr">
            <a:spAutoFit/>
          </a:bodyPr>
          <a:lstStyle/>
          <a:p>
            <a:pPr algn="ctr">
              <a:spcAft>
                <a:spcPts val="0"/>
              </a:spcAft>
            </a:pPr>
            <a:r>
              <a:rPr sz="1100" b="0">
                <a:solidFill>
                  <a:srgbClr val="4A2608"/>
                </a:solidFill>
                <a:latin typeface="Calibri"/>
              </a:rPr>
              <a:t>28</a:t>
            </a:r>
          </a:p>
        </p:txBody>
      </p:sp>
      <p:sp>
        <p:nvSpPr>
          <p:cNvPr id="97" name="Rectangle 96"/>
          <p:cNvSpPr/>
          <p:nvPr/>
        </p:nvSpPr>
        <p:spPr>
          <a:xfrm>
            <a:off x="10972800" y="4251960"/>
            <a:ext cx="658368" cy="621792"/>
          </a:xfrm>
          <a:prstGeom prst="rect">
            <a:avLst/>
          </a:prstGeom>
          <a:solidFill>
            <a:srgbClr val="FFFFFF"/>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0972800" y="4251960"/>
            <a:ext cx="658368" cy="621792"/>
          </a:xfrm>
          <a:prstGeom prst="rect">
            <a:avLst/>
          </a:prstGeom>
          <a:noFill/>
        </p:spPr>
        <p:txBody>
          <a:bodyPr wrap="square" lIns="36576" rIns="36576" tIns="18288" bIns="18288" anchor="ctr">
            <a:spAutoFit/>
          </a:bodyPr>
          <a:lstStyle/>
          <a:p>
            <a:pPr algn="ctr">
              <a:spcAft>
                <a:spcPts val="0"/>
              </a:spcAft>
            </a:pPr>
            <a:r>
              <a:rPr sz="1100" b="0">
                <a:solidFill>
                  <a:srgbClr val="4A2608"/>
                </a:solidFill>
                <a:latin typeface="Calibri"/>
              </a:rPr>
              <a:t>~1.5 min</a:t>
            </a:r>
          </a:p>
        </p:txBody>
      </p:sp>
      <p:sp>
        <p:nvSpPr>
          <p:cNvPr id="99" name="TextBox 98"/>
          <p:cNvSpPr txBox="1"/>
          <p:nvPr/>
        </p:nvSpPr>
        <p:spPr>
          <a:xfrm>
            <a:off x="6675120" y="5029200"/>
            <a:ext cx="5303520" cy="1097280"/>
          </a:xfrm>
          <a:prstGeom prst="rect">
            <a:avLst/>
          </a:prstGeom>
          <a:noFill/>
        </p:spPr>
        <p:txBody>
          <a:bodyPr wrap="square" lIns="36576" rIns="36576" tIns="18288" bIns="18288" anchor="t">
            <a:spAutoFit/>
          </a:bodyPr>
          <a:lstStyle/>
          <a:p>
            <a:pPr algn="l">
              <a:spcAft>
                <a:spcPts val="600"/>
              </a:spcAft>
            </a:pPr>
            <a:r>
              <a:rPr sz="1300" b="0">
                <a:solidFill>
                  <a:srgbClr val="4A2608"/>
                </a:solidFill>
                <a:latin typeface="Calibri"/>
              </a:rPr>
              <a:t>Ticks: price points in the replay.  Events: tracked wallet events.  Run: typical session length at the fixed playback speed.</a:t>
            </a:r>
          </a:p>
          <a:p>
            <a:pPr algn="l">
              <a:spcAft>
                <a:spcPts val="600"/>
              </a:spcAft>
            </a:pPr>
            <a:r>
              <a:rPr sz="1300" b="0">
                <a:solidFill>
                  <a:srgbClr val="4A2608"/>
                </a:solidFill>
                <a:latin typeface="Calibri"/>
              </a:rPr>
              <a:t>Wallet labels are derived by mechanical rules over sampled wallets. They are not identities.</a:t>
            </a:r>
          </a:p>
        </p:txBody>
      </p:sp>
      <p:sp>
        <p:nvSpPr>
          <p:cNvPr id="100" name="Rectangle 99"/>
          <p:cNvSpPr/>
          <p:nvPr/>
        </p:nvSpPr>
        <p:spPr>
          <a:xfrm>
            <a:off x="548640" y="5852160"/>
            <a:ext cx="5532120" cy="36576"/>
          </a:xfrm>
          <a:prstGeom prst="rect">
            <a:avLst/>
          </a:prstGeom>
          <a:solidFill>
            <a:srgbClr val="4A26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548640" y="5907024"/>
            <a:ext cx="5532120" cy="502920"/>
          </a:xfrm>
          <a:prstGeom prst="rect">
            <a:avLst/>
          </a:prstGeom>
          <a:noFill/>
        </p:spPr>
        <p:txBody>
          <a:bodyPr wrap="square" lIns="36576" rIns="36576" tIns="18288" bIns="18288" anchor="t">
            <a:spAutoFit/>
          </a:bodyPr>
          <a:lstStyle/>
          <a:p>
            <a:pPr algn="l">
              <a:spcAft>
                <a:spcPts val="0"/>
              </a:spcAft>
            </a:pPr>
            <a:r>
              <a:rPr sz="1300" b="1">
                <a:solidFill>
                  <a:srgbClr val="4A2608"/>
                </a:solidFill>
                <a:latin typeface="Calibri"/>
              </a:rPr>
              <a:t>The catalogue comes from a repeatable data pipeline, so adding a rug is a data job.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4DC"/>
        </a:solidFill>
        <a:effectLst/>
      </p:bgPr>
    </p:bg>
    <p:spTree>
      <p:nvGrpSpPr>
        <p:cNvPr id="1" name=""/>
        <p:cNvGrpSpPr/>
        <p:nvPr/>
      </p:nvGrpSpPr>
      <p:grpSpPr/>
      <p:sp>
        <p:nvSpPr>
          <p:cNvPr id="2" name="TextBox 1"/>
          <p:cNvSpPr txBox="1"/>
          <p:nvPr/>
        </p:nvSpPr>
        <p:spPr>
          <a:xfrm>
            <a:off x="548640" y="347472"/>
            <a:ext cx="11064240" cy="822960"/>
          </a:xfrm>
          <a:prstGeom prst="rect">
            <a:avLst/>
          </a:prstGeom>
          <a:noFill/>
        </p:spPr>
        <p:txBody>
          <a:bodyPr wrap="square" lIns="36576" rIns="36576" tIns="18288" bIns="18288" anchor="ctr">
            <a:spAutoFit/>
          </a:bodyPr>
          <a:lstStyle/>
          <a:p>
            <a:pPr algn="l">
              <a:spcAft>
                <a:spcPts val="0"/>
              </a:spcAft>
            </a:pPr>
            <a:r>
              <a:rPr sz="3000" b="1">
                <a:solidFill>
                  <a:srgbClr val="4A2608"/>
                </a:solidFill>
                <a:latin typeface="Courier New"/>
              </a:rPr>
              <a:t>Built for Solana Mobile, wallet optional</a:t>
            </a:r>
          </a:p>
        </p:txBody>
      </p:sp>
      <p:sp>
        <p:nvSpPr>
          <p:cNvPr id="3" name="Rectangle 2"/>
          <p:cNvSpPr/>
          <p:nvPr/>
        </p:nvSpPr>
        <p:spPr>
          <a:xfrm>
            <a:off x="585216" y="1188720"/>
            <a:ext cx="201168" cy="201168"/>
          </a:xfrm>
          <a:prstGeom prst="rect">
            <a:avLst/>
          </a:prstGeom>
          <a:solidFill>
            <a:srgbClr val="F7C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9536" y="1188720"/>
            <a:ext cx="201168" cy="201168"/>
          </a:xfrm>
          <a:prstGeom prst="rect">
            <a:avLst/>
          </a:prstGeom>
          <a:solidFill>
            <a:srgbClr val="F08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33856" y="1188720"/>
            <a:ext cx="201168" cy="201168"/>
          </a:xfrm>
          <a:prstGeom prst="rect">
            <a:avLst/>
          </a:prstGeom>
          <a:solidFill>
            <a:srgbClr val="F7C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08176" y="1188720"/>
            <a:ext cx="201168" cy="201168"/>
          </a:xfrm>
          <a:prstGeom prst="rect">
            <a:avLst/>
          </a:prstGeom>
          <a:solidFill>
            <a:srgbClr val="F08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46520"/>
            <a:ext cx="640080" cy="274320"/>
          </a:xfrm>
          <a:prstGeom prst="rect">
            <a:avLst/>
          </a:prstGeom>
          <a:noFill/>
        </p:spPr>
        <p:txBody>
          <a:bodyPr wrap="square" lIns="36576" rIns="36576" tIns="18288" bIns="18288" anchor="t">
            <a:spAutoFit/>
          </a:bodyPr>
          <a:lstStyle/>
          <a:p>
            <a:pPr algn="r">
              <a:spcAft>
                <a:spcPts val="0"/>
              </a:spcAft>
            </a:pPr>
            <a:r>
              <a:rPr sz="1100" b="1">
                <a:solidFill>
                  <a:srgbClr val="4A2608"/>
                </a:solidFill>
                <a:latin typeface="Courier New"/>
              </a:rPr>
              <a:t>8</a:t>
            </a:r>
          </a:p>
        </p:txBody>
      </p:sp>
      <p:sp>
        <p:nvSpPr>
          <p:cNvPr id="8" name="TextBox 7"/>
          <p:cNvSpPr txBox="1"/>
          <p:nvPr/>
        </p:nvSpPr>
        <p:spPr>
          <a:xfrm>
            <a:off x="548640" y="6446520"/>
            <a:ext cx="7315200" cy="274320"/>
          </a:xfrm>
          <a:prstGeom prst="rect">
            <a:avLst/>
          </a:prstGeom>
          <a:noFill/>
        </p:spPr>
        <p:txBody>
          <a:bodyPr wrap="square" lIns="36576" rIns="36576" tIns="18288" bIns="18288" anchor="t">
            <a:spAutoFit/>
          </a:bodyPr>
          <a:lstStyle/>
          <a:p>
            <a:pPr algn="l">
              <a:spcAft>
                <a:spcPts val="0"/>
              </a:spcAft>
            </a:pPr>
            <a:r>
              <a:rPr sz="1100" b="0">
                <a:solidFill>
                  <a:srgbClr val="4A2608"/>
                </a:solidFill>
                <a:latin typeface="Courier New"/>
              </a:rPr>
              <a:t>RUGRAT  ·  CLOCK IN: Solana Mobile Hackathon</a:t>
            </a:r>
          </a:p>
        </p:txBody>
      </p:sp>
      <p:sp>
        <p:nvSpPr>
          <p:cNvPr id="9" name="Rectangle 8"/>
          <p:cNvSpPr/>
          <p:nvPr/>
        </p:nvSpPr>
        <p:spPr>
          <a:xfrm>
            <a:off x="621792" y="1764792"/>
            <a:ext cx="3520440" cy="2011680"/>
          </a:xfrm>
          <a:prstGeom prst="rect">
            <a:avLst/>
          </a:prstGeom>
          <a:solidFill>
            <a:srgbClr val="4A26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91640"/>
            <a:ext cx="3520440" cy="2011680"/>
          </a:xfrm>
          <a:prstGeom prst="rect">
            <a:avLst/>
          </a:prstGeom>
          <a:solidFill>
            <a:srgbClr val="F7C53B"/>
          </a:solidFill>
          <a:ln w="317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801368"/>
            <a:ext cx="3246120" cy="457200"/>
          </a:xfrm>
          <a:prstGeom prst="rect">
            <a:avLst/>
          </a:prstGeom>
          <a:noFill/>
        </p:spPr>
        <p:txBody>
          <a:bodyPr wrap="square" lIns="36576" rIns="36576" tIns="18288" bIns="18288" anchor="t">
            <a:spAutoFit/>
          </a:bodyPr>
          <a:lstStyle/>
          <a:p>
            <a:pPr algn="l">
              <a:spcAft>
                <a:spcPts val="0"/>
              </a:spcAft>
            </a:pPr>
            <a:r>
              <a:rPr sz="1900" b="1">
                <a:solidFill>
                  <a:srgbClr val="4A2608"/>
                </a:solidFill>
                <a:latin typeface="Courier New"/>
              </a:rPr>
              <a:t>Mobile first</a:t>
            </a:r>
          </a:p>
        </p:txBody>
      </p:sp>
      <p:sp>
        <p:nvSpPr>
          <p:cNvPr id="12" name="TextBox 11"/>
          <p:cNvSpPr txBox="1"/>
          <p:nvPr/>
        </p:nvSpPr>
        <p:spPr>
          <a:xfrm>
            <a:off x="685800" y="2377440"/>
            <a:ext cx="3246120" cy="1280160"/>
          </a:xfrm>
          <a:prstGeom prst="rect">
            <a:avLst/>
          </a:prstGeom>
          <a:noFill/>
        </p:spPr>
        <p:txBody>
          <a:bodyPr wrap="square" lIns="36576" rIns="36576" tIns="18288" bIns="18288" anchor="t">
            <a:spAutoFit/>
          </a:bodyPr>
          <a:lstStyle/>
          <a:p>
            <a:pPr algn="l">
              <a:spcAft>
                <a:spcPts val="0"/>
              </a:spcAft>
            </a:pPr>
            <a:r>
              <a:rPr sz="1600" b="0">
                <a:solidFill>
                  <a:srgbClr val="4A2608"/>
                </a:solidFill>
                <a:latin typeface="Calibri"/>
              </a:rPr>
              <a:t>Portrait, one thumb, runs of about a minute. Android APK built for the Seeker.</a:t>
            </a:r>
          </a:p>
        </p:txBody>
      </p:sp>
      <p:sp>
        <p:nvSpPr>
          <p:cNvPr id="13" name="Rectangle 12"/>
          <p:cNvSpPr/>
          <p:nvPr/>
        </p:nvSpPr>
        <p:spPr>
          <a:xfrm>
            <a:off x="4370832" y="1764792"/>
            <a:ext cx="3520440" cy="2011680"/>
          </a:xfrm>
          <a:prstGeom prst="rect">
            <a:avLst/>
          </a:prstGeom>
          <a:solidFill>
            <a:srgbClr val="4A26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691640"/>
            <a:ext cx="3520440" cy="2011680"/>
          </a:xfrm>
          <a:prstGeom prst="rect">
            <a:avLst/>
          </a:prstGeom>
          <a:solidFill>
            <a:srgbClr val="FFFFFF"/>
          </a:solidFill>
          <a:ln w="317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34840" y="1801368"/>
            <a:ext cx="3246120" cy="457200"/>
          </a:xfrm>
          <a:prstGeom prst="rect">
            <a:avLst/>
          </a:prstGeom>
          <a:noFill/>
        </p:spPr>
        <p:txBody>
          <a:bodyPr wrap="square" lIns="36576" rIns="36576" tIns="18288" bIns="18288" anchor="t">
            <a:spAutoFit/>
          </a:bodyPr>
          <a:lstStyle/>
          <a:p>
            <a:pPr algn="l">
              <a:spcAft>
                <a:spcPts val="0"/>
              </a:spcAft>
            </a:pPr>
            <a:r>
              <a:rPr sz="1900" b="1">
                <a:solidFill>
                  <a:srgbClr val="4A2608"/>
                </a:solidFill>
                <a:latin typeface="Courier New"/>
              </a:rPr>
              <a:t>Wallet optional</a:t>
            </a:r>
          </a:p>
        </p:txBody>
      </p:sp>
      <p:sp>
        <p:nvSpPr>
          <p:cNvPr id="16" name="TextBox 15"/>
          <p:cNvSpPr txBox="1"/>
          <p:nvPr/>
        </p:nvSpPr>
        <p:spPr>
          <a:xfrm>
            <a:off x="4434840" y="2377440"/>
            <a:ext cx="3246120" cy="1280160"/>
          </a:xfrm>
          <a:prstGeom prst="rect">
            <a:avLst/>
          </a:prstGeom>
          <a:noFill/>
        </p:spPr>
        <p:txBody>
          <a:bodyPr wrap="square" lIns="36576" rIns="36576" tIns="18288" bIns="18288" anchor="t">
            <a:spAutoFit/>
          </a:bodyPr>
          <a:lstStyle/>
          <a:p>
            <a:pPr algn="l">
              <a:spcAft>
                <a:spcPts val="0"/>
              </a:spcAft>
            </a:pPr>
            <a:r>
              <a:rPr sz="1600" b="0">
                <a:solidFill>
                  <a:srgbClr val="4A2608"/>
                </a:solidFill>
                <a:latin typeface="Calibri"/>
              </a:rPr>
              <a:t>Mobile Wallet Adapter. Everything plays offline; connect only to record.</a:t>
            </a:r>
          </a:p>
        </p:txBody>
      </p:sp>
      <p:sp>
        <p:nvSpPr>
          <p:cNvPr id="17" name="Rectangle 16"/>
          <p:cNvSpPr/>
          <p:nvPr/>
        </p:nvSpPr>
        <p:spPr>
          <a:xfrm>
            <a:off x="8119872" y="1764792"/>
            <a:ext cx="3520440" cy="2011680"/>
          </a:xfrm>
          <a:prstGeom prst="rect">
            <a:avLst/>
          </a:prstGeom>
          <a:solidFill>
            <a:srgbClr val="4A26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6720" y="1691640"/>
            <a:ext cx="3520440" cy="2011680"/>
          </a:xfrm>
          <a:prstGeom prst="rect">
            <a:avLst/>
          </a:prstGeom>
          <a:solidFill>
            <a:srgbClr val="FFFFFF"/>
          </a:solidFill>
          <a:ln w="317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83880" y="1801368"/>
            <a:ext cx="3246120" cy="457200"/>
          </a:xfrm>
          <a:prstGeom prst="rect">
            <a:avLst/>
          </a:prstGeom>
          <a:noFill/>
        </p:spPr>
        <p:txBody>
          <a:bodyPr wrap="square" lIns="36576" rIns="36576" tIns="18288" bIns="18288" anchor="t">
            <a:spAutoFit/>
          </a:bodyPr>
          <a:lstStyle/>
          <a:p>
            <a:pPr algn="l">
              <a:spcAft>
                <a:spcPts val="0"/>
              </a:spcAft>
            </a:pPr>
            <a:r>
              <a:rPr sz="1900" b="1">
                <a:solidFill>
                  <a:srgbClr val="4A2608"/>
                </a:solidFill>
                <a:latin typeface="Courier New"/>
              </a:rPr>
              <a:t>Onchain score</a:t>
            </a:r>
          </a:p>
        </p:txBody>
      </p:sp>
      <p:sp>
        <p:nvSpPr>
          <p:cNvPr id="20" name="TextBox 19"/>
          <p:cNvSpPr txBox="1"/>
          <p:nvPr/>
        </p:nvSpPr>
        <p:spPr>
          <a:xfrm>
            <a:off x="8183880" y="2377440"/>
            <a:ext cx="3246120" cy="1280160"/>
          </a:xfrm>
          <a:prstGeom prst="rect">
            <a:avLst/>
          </a:prstGeom>
          <a:noFill/>
        </p:spPr>
        <p:txBody>
          <a:bodyPr wrap="square" lIns="36576" rIns="36576" tIns="18288" bIns="18288" anchor="t">
            <a:spAutoFit/>
          </a:bodyPr>
          <a:lstStyle/>
          <a:p>
            <a:pPr algn="l">
              <a:spcAft>
                <a:spcPts val="0"/>
              </a:spcAft>
            </a:pPr>
            <a:r>
              <a:rPr sz="1600" b="0">
                <a:solidFill>
                  <a:srgbClr val="4A2608"/>
                </a:solidFill>
                <a:latin typeface="Calibri"/>
              </a:rPr>
              <a:t>A Memo signed by your wallet, read back and verified. Duplicate runs are blocked.</a:t>
            </a:r>
          </a:p>
        </p:txBody>
      </p:sp>
      <p:sp>
        <p:nvSpPr>
          <p:cNvPr id="21" name="Rectangle 20"/>
          <p:cNvSpPr/>
          <p:nvPr/>
        </p:nvSpPr>
        <p:spPr>
          <a:xfrm>
            <a:off x="2496312" y="4050791"/>
            <a:ext cx="3520440" cy="2011680"/>
          </a:xfrm>
          <a:prstGeom prst="rect">
            <a:avLst/>
          </a:prstGeom>
          <a:solidFill>
            <a:srgbClr val="4A26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423160" y="3977639"/>
            <a:ext cx="3520440" cy="2011680"/>
          </a:xfrm>
          <a:prstGeom prst="rect">
            <a:avLst/>
          </a:prstGeom>
          <a:solidFill>
            <a:srgbClr val="FFFFFF"/>
          </a:solidFill>
          <a:ln w="317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60320" y="4087368"/>
            <a:ext cx="3246120" cy="457200"/>
          </a:xfrm>
          <a:prstGeom prst="rect">
            <a:avLst/>
          </a:prstGeom>
          <a:noFill/>
        </p:spPr>
        <p:txBody>
          <a:bodyPr wrap="square" lIns="36576" rIns="36576" tIns="18288" bIns="18288" anchor="t">
            <a:spAutoFit/>
          </a:bodyPr>
          <a:lstStyle/>
          <a:p>
            <a:pPr algn="l">
              <a:spcAft>
                <a:spcPts val="0"/>
              </a:spcAft>
            </a:pPr>
            <a:r>
              <a:rPr sz="1900" b="1">
                <a:solidFill>
                  <a:srgbClr val="4A2608"/>
                </a:solidFill>
                <a:latin typeface="Courier New"/>
              </a:rPr>
              <a:t>Rug Hunter badge</a:t>
            </a:r>
          </a:p>
        </p:txBody>
      </p:sp>
      <p:sp>
        <p:nvSpPr>
          <p:cNvPr id="24" name="TextBox 23"/>
          <p:cNvSpPr txBox="1"/>
          <p:nvPr/>
        </p:nvSpPr>
        <p:spPr>
          <a:xfrm>
            <a:off x="2560320" y="4663440"/>
            <a:ext cx="3246120" cy="1280160"/>
          </a:xfrm>
          <a:prstGeom prst="rect">
            <a:avLst/>
          </a:prstGeom>
          <a:noFill/>
        </p:spPr>
        <p:txBody>
          <a:bodyPr wrap="square" lIns="36576" rIns="36576" tIns="18288" bIns="18288" anchor="t">
            <a:spAutoFit/>
          </a:bodyPr>
          <a:lstStyle/>
          <a:p>
            <a:pPr algn="l">
              <a:spcAft>
                <a:spcPts val="0"/>
              </a:spcAft>
            </a:pPr>
            <a:r>
              <a:rPr sz="1600" b="0">
                <a:solidFill>
                  <a:srgbClr val="4A2608"/>
                </a:solidFill>
                <a:latin typeface="Calibri"/>
              </a:rPr>
              <a:t>Survive 3 unique recorded rugs to mint a soulbound Metaplex Core badge.</a:t>
            </a:r>
          </a:p>
        </p:txBody>
      </p:sp>
      <p:sp>
        <p:nvSpPr>
          <p:cNvPr id="25" name="Rectangle 24"/>
          <p:cNvSpPr/>
          <p:nvPr/>
        </p:nvSpPr>
        <p:spPr>
          <a:xfrm>
            <a:off x="6245352" y="4050791"/>
            <a:ext cx="3520440" cy="2011680"/>
          </a:xfrm>
          <a:prstGeom prst="rect">
            <a:avLst/>
          </a:prstGeom>
          <a:solidFill>
            <a:srgbClr val="4A26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72200" y="3977639"/>
            <a:ext cx="3520440" cy="2011680"/>
          </a:xfrm>
          <a:prstGeom prst="rect">
            <a:avLst/>
          </a:prstGeom>
          <a:solidFill>
            <a:srgbClr val="FFFFFF"/>
          </a:solidFill>
          <a:ln w="317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60" y="4087368"/>
            <a:ext cx="3246120" cy="457200"/>
          </a:xfrm>
          <a:prstGeom prst="rect">
            <a:avLst/>
          </a:prstGeom>
          <a:noFill/>
        </p:spPr>
        <p:txBody>
          <a:bodyPr wrap="square" lIns="36576" rIns="36576" tIns="18288" bIns="18288" anchor="t">
            <a:spAutoFit/>
          </a:bodyPr>
          <a:lstStyle/>
          <a:p>
            <a:pPr algn="l">
              <a:spcAft>
                <a:spcPts val="0"/>
              </a:spcAft>
            </a:pPr>
            <a:r>
              <a:rPr sz="1900" b="1">
                <a:solidFill>
                  <a:srgbClr val="4A2608"/>
                </a:solidFill>
                <a:latin typeface="Courier New"/>
              </a:rPr>
              <a:t>SKR holder perks</a:t>
            </a:r>
          </a:p>
        </p:txBody>
      </p:sp>
      <p:sp>
        <p:nvSpPr>
          <p:cNvPr id="28" name="TextBox 27"/>
          <p:cNvSpPr txBox="1"/>
          <p:nvPr/>
        </p:nvSpPr>
        <p:spPr>
          <a:xfrm>
            <a:off x="6309360" y="4663440"/>
            <a:ext cx="3246120" cy="1280160"/>
          </a:xfrm>
          <a:prstGeom prst="rect">
            <a:avLst/>
          </a:prstGeom>
          <a:noFill/>
        </p:spPr>
        <p:txBody>
          <a:bodyPr wrap="square" lIns="36576" rIns="36576" tIns="18288" bIns="18288" anchor="t">
            <a:spAutoFit/>
          </a:bodyPr>
          <a:lstStyle/>
          <a:p>
            <a:pPr algn="l">
              <a:spcAft>
                <a:spcPts val="0"/>
              </a:spcAft>
            </a:pPr>
            <a:r>
              <a:rPr sz="1600" b="0">
                <a:solidFill>
                  <a:srgbClr val="4A2608"/>
                </a:solidFill>
                <a:latin typeface="Calibri"/>
              </a:rPr>
              <a:t>Read-only balance check unlocks a purple skin and a twilight arena. Cosmetic only.</a:t>
            </a:r>
          </a:p>
        </p:txBody>
      </p:sp>
      <p:sp>
        <p:nvSpPr>
          <p:cNvPr id="29" name="TextBox 28"/>
          <p:cNvSpPr txBox="1"/>
          <p:nvPr/>
        </p:nvSpPr>
        <p:spPr>
          <a:xfrm>
            <a:off x="548640" y="6108192"/>
            <a:ext cx="11064240" cy="365760"/>
          </a:xfrm>
          <a:prstGeom prst="rect">
            <a:avLst/>
          </a:prstGeom>
          <a:noFill/>
        </p:spPr>
        <p:txBody>
          <a:bodyPr wrap="square" lIns="36576" rIns="36576" tIns="18288" bIns="18288" anchor="t">
            <a:spAutoFit/>
          </a:bodyPr>
          <a:lstStyle/>
          <a:p>
            <a:pPr algn="l">
              <a:spcAft>
                <a:spcPts val="0"/>
              </a:spcAft>
            </a:pPr>
            <a:r>
              <a:rPr sz="1300" b="0">
                <a:solidFill>
                  <a:srgbClr val="4A2608"/>
                </a:solidFill>
                <a:latin typeface="Calibri"/>
              </a:rPr>
              <a:t>Onchain flow tested on devnet. The SKR balance check reads mainnet and is read-only.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4DC"/>
        </a:solidFill>
        <a:effectLst/>
      </p:bgPr>
    </p:bg>
    <p:spTree>
      <p:nvGrpSpPr>
        <p:cNvPr id="1" name=""/>
        <p:cNvGrpSpPr/>
        <p:nvPr/>
      </p:nvGrpSpPr>
      <p:grpSpPr/>
      <p:sp>
        <p:nvSpPr>
          <p:cNvPr id="2" name="TextBox 1"/>
          <p:cNvSpPr txBox="1"/>
          <p:nvPr/>
        </p:nvSpPr>
        <p:spPr>
          <a:xfrm>
            <a:off x="548640" y="347472"/>
            <a:ext cx="11064240" cy="822960"/>
          </a:xfrm>
          <a:prstGeom prst="rect">
            <a:avLst/>
          </a:prstGeom>
          <a:noFill/>
        </p:spPr>
        <p:txBody>
          <a:bodyPr wrap="square" lIns="36576" rIns="36576" tIns="18288" bIns="18288" anchor="ctr">
            <a:spAutoFit/>
          </a:bodyPr>
          <a:lstStyle/>
          <a:p>
            <a:pPr algn="l">
              <a:spcAft>
                <a:spcPts val="0"/>
              </a:spcAft>
            </a:pPr>
            <a:r>
              <a:rPr sz="3000" b="1">
                <a:solidFill>
                  <a:srgbClr val="4A2608"/>
                </a:solidFill>
                <a:latin typeface="Courier New"/>
              </a:rPr>
              <a:t>What works today, and what does not yet</a:t>
            </a:r>
          </a:p>
        </p:txBody>
      </p:sp>
      <p:sp>
        <p:nvSpPr>
          <p:cNvPr id="3" name="Rectangle 2"/>
          <p:cNvSpPr/>
          <p:nvPr/>
        </p:nvSpPr>
        <p:spPr>
          <a:xfrm>
            <a:off x="585216" y="1188720"/>
            <a:ext cx="201168" cy="201168"/>
          </a:xfrm>
          <a:prstGeom prst="rect">
            <a:avLst/>
          </a:prstGeom>
          <a:solidFill>
            <a:srgbClr val="F7C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9536" y="1188720"/>
            <a:ext cx="201168" cy="201168"/>
          </a:xfrm>
          <a:prstGeom prst="rect">
            <a:avLst/>
          </a:prstGeom>
          <a:solidFill>
            <a:srgbClr val="F08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33856" y="1188720"/>
            <a:ext cx="201168" cy="201168"/>
          </a:xfrm>
          <a:prstGeom prst="rect">
            <a:avLst/>
          </a:prstGeom>
          <a:solidFill>
            <a:srgbClr val="F7C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08176" y="1188720"/>
            <a:ext cx="201168" cy="201168"/>
          </a:xfrm>
          <a:prstGeom prst="rect">
            <a:avLst/>
          </a:prstGeom>
          <a:solidFill>
            <a:srgbClr val="F08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46520"/>
            <a:ext cx="640080" cy="274320"/>
          </a:xfrm>
          <a:prstGeom prst="rect">
            <a:avLst/>
          </a:prstGeom>
          <a:noFill/>
        </p:spPr>
        <p:txBody>
          <a:bodyPr wrap="square" lIns="36576" rIns="36576" tIns="18288" bIns="18288" anchor="t">
            <a:spAutoFit/>
          </a:bodyPr>
          <a:lstStyle/>
          <a:p>
            <a:pPr algn="r">
              <a:spcAft>
                <a:spcPts val="0"/>
              </a:spcAft>
            </a:pPr>
            <a:r>
              <a:rPr sz="1100" b="1">
                <a:solidFill>
                  <a:srgbClr val="4A2608"/>
                </a:solidFill>
                <a:latin typeface="Courier New"/>
              </a:rPr>
              <a:t>9</a:t>
            </a:r>
          </a:p>
        </p:txBody>
      </p:sp>
      <p:sp>
        <p:nvSpPr>
          <p:cNvPr id="8" name="TextBox 7"/>
          <p:cNvSpPr txBox="1"/>
          <p:nvPr/>
        </p:nvSpPr>
        <p:spPr>
          <a:xfrm>
            <a:off x="548640" y="6446520"/>
            <a:ext cx="7315200" cy="274320"/>
          </a:xfrm>
          <a:prstGeom prst="rect">
            <a:avLst/>
          </a:prstGeom>
          <a:noFill/>
        </p:spPr>
        <p:txBody>
          <a:bodyPr wrap="square" lIns="36576" rIns="36576" tIns="18288" bIns="18288" anchor="t">
            <a:spAutoFit/>
          </a:bodyPr>
          <a:lstStyle/>
          <a:p>
            <a:pPr algn="l">
              <a:spcAft>
                <a:spcPts val="0"/>
              </a:spcAft>
            </a:pPr>
            <a:r>
              <a:rPr sz="1100" b="0">
                <a:solidFill>
                  <a:srgbClr val="4A2608"/>
                </a:solidFill>
                <a:latin typeface="Courier New"/>
              </a:rPr>
              <a:t>RUGRAT  ·  CLOCK IN: Solana Mobile Hackathon</a:t>
            </a:r>
          </a:p>
        </p:txBody>
      </p:sp>
      <p:sp>
        <p:nvSpPr>
          <p:cNvPr id="9" name="Rectangle 8"/>
          <p:cNvSpPr/>
          <p:nvPr/>
        </p:nvSpPr>
        <p:spPr>
          <a:xfrm>
            <a:off x="548640" y="1645920"/>
            <a:ext cx="5486400" cy="457200"/>
          </a:xfrm>
          <a:prstGeom prst="rect">
            <a:avLst/>
          </a:prstGeom>
          <a:solidFill>
            <a:srgbClr val="2E7D32"/>
          </a:solidFill>
          <a:ln w="2540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45920"/>
            <a:ext cx="5486400" cy="457200"/>
          </a:xfrm>
          <a:prstGeom prst="rect">
            <a:avLst/>
          </a:prstGeom>
          <a:noFill/>
        </p:spPr>
        <p:txBody>
          <a:bodyPr wrap="square" lIns="36576" rIns="36576" tIns="18288" bIns="18288" anchor="ctr">
            <a:spAutoFit/>
          </a:bodyPr>
          <a:lstStyle/>
          <a:p>
            <a:pPr algn="ctr">
              <a:spcAft>
                <a:spcPts val="0"/>
              </a:spcAft>
            </a:pPr>
            <a:r>
              <a:rPr sz="1600" b="1">
                <a:solidFill>
                  <a:srgbClr val="FFFFFF"/>
                </a:solidFill>
                <a:latin typeface="Courier New"/>
              </a:rPr>
              <a:t>WORKING TODAY</a:t>
            </a:r>
          </a:p>
        </p:txBody>
      </p:sp>
      <p:sp>
        <p:nvSpPr>
          <p:cNvPr id="11" name="Rectangle 10"/>
          <p:cNvSpPr/>
          <p:nvPr/>
        </p:nvSpPr>
        <p:spPr>
          <a:xfrm>
            <a:off x="6172200" y="1645920"/>
            <a:ext cx="5486400" cy="457200"/>
          </a:xfrm>
          <a:prstGeom prst="rect">
            <a:avLst/>
          </a:prstGeom>
          <a:solidFill>
            <a:srgbClr val="B02A2A"/>
          </a:solidFill>
          <a:ln w="2540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72200" y="1645920"/>
            <a:ext cx="5486400" cy="457200"/>
          </a:xfrm>
          <a:prstGeom prst="rect">
            <a:avLst/>
          </a:prstGeom>
          <a:noFill/>
        </p:spPr>
        <p:txBody>
          <a:bodyPr wrap="square" lIns="36576" rIns="36576" tIns="18288" bIns="18288" anchor="ctr">
            <a:spAutoFit/>
          </a:bodyPr>
          <a:lstStyle/>
          <a:p>
            <a:pPr algn="ctr">
              <a:spcAft>
                <a:spcPts val="0"/>
              </a:spcAft>
            </a:pPr>
            <a:r>
              <a:rPr sz="1600" b="1">
                <a:solidFill>
                  <a:srgbClr val="FFFFFF"/>
                </a:solidFill>
                <a:latin typeface="Courier New"/>
              </a:rPr>
              <a:t>NOT YET</a:t>
            </a:r>
          </a:p>
        </p:txBody>
      </p:sp>
      <p:sp>
        <p:nvSpPr>
          <p:cNvPr id="13" name="Rectangle 12"/>
          <p:cNvSpPr/>
          <p:nvPr/>
        </p:nvSpPr>
        <p:spPr>
          <a:xfrm>
            <a:off x="548640" y="2350008"/>
            <a:ext cx="182880" cy="182880"/>
          </a:xfrm>
          <a:prstGeom prst="rect">
            <a:avLst/>
          </a:prstGeom>
          <a:solidFill>
            <a:srgbClr val="2E7D32"/>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2240280"/>
            <a:ext cx="5166360" cy="594360"/>
          </a:xfrm>
          <a:prstGeom prst="rect">
            <a:avLst/>
          </a:prstGeom>
          <a:noFill/>
        </p:spPr>
        <p:txBody>
          <a:bodyPr wrap="square" lIns="36576" rIns="36576" tIns="18288" bIns="18288" anchor="t">
            <a:spAutoFit/>
          </a:bodyPr>
          <a:lstStyle/>
          <a:p>
            <a:pPr algn="l">
              <a:spcAft>
                <a:spcPts val="0"/>
              </a:spcAft>
            </a:pPr>
            <a:r>
              <a:rPr sz="1600" b="0">
                <a:solidFill>
                  <a:srgbClr val="4A2608"/>
                </a:solidFill>
                <a:latin typeface="Calibri"/>
              </a:rPr>
              <a:t>Four real replays: LIBRA, BARRON, MELANIA, HAWK</a:t>
            </a:r>
          </a:p>
        </p:txBody>
      </p:sp>
      <p:sp>
        <p:nvSpPr>
          <p:cNvPr id="15" name="Rectangle 14"/>
          <p:cNvSpPr/>
          <p:nvPr/>
        </p:nvSpPr>
        <p:spPr>
          <a:xfrm>
            <a:off x="548640" y="2962656"/>
            <a:ext cx="182880" cy="182880"/>
          </a:xfrm>
          <a:prstGeom prst="rect">
            <a:avLst/>
          </a:prstGeom>
          <a:solidFill>
            <a:srgbClr val="2E7D32"/>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2852928"/>
            <a:ext cx="5166360" cy="594360"/>
          </a:xfrm>
          <a:prstGeom prst="rect">
            <a:avLst/>
          </a:prstGeom>
          <a:noFill/>
        </p:spPr>
        <p:txBody>
          <a:bodyPr wrap="square" lIns="36576" rIns="36576" tIns="18288" bIns="18288" anchor="t">
            <a:spAutoFit/>
          </a:bodyPr>
          <a:lstStyle/>
          <a:p>
            <a:pPr algn="l">
              <a:spcAft>
                <a:spcPts val="0"/>
              </a:spcAft>
            </a:pPr>
            <a:r>
              <a:rPr sz="1600" b="0">
                <a:solidFill>
                  <a:srgbClr val="4A2608"/>
                </a:solidFill>
                <a:latin typeface="Calibri"/>
              </a:rPr>
              <a:t>Full loop: buy, sell, verdict, Reveal, skill score</a:t>
            </a:r>
          </a:p>
        </p:txBody>
      </p:sp>
      <p:sp>
        <p:nvSpPr>
          <p:cNvPr id="17" name="Rectangle 16"/>
          <p:cNvSpPr/>
          <p:nvPr/>
        </p:nvSpPr>
        <p:spPr>
          <a:xfrm>
            <a:off x="548640" y="3575304"/>
            <a:ext cx="182880" cy="182880"/>
          </a:xfrm>
          <a:prstGeom prst="rect">
            <a:avLst/>
          </a:prstGeom>
          <a:solidFill>
            <a:srgbClr val="2E7D32"/>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465576"/>
            <a:ext cx="5166360" cy="594360"/>
          </a:xfrm>
          <a:prstGeom prst="rect">
            <a:avLst/>
          </a:prstGeom>
          <a:noFill/>
        </p:spPr>
        <p:txBody>
          <a:bodyPr wrap="square" lIns="36576" rIns="36576" tIns="18288" bIns="18288" anchor="t">
            <a:spAutoFit/>
          </a:bodyPr>
          <a:lstStyle/>
          <a:p>
            <a:pPr algn="l">
              <a:spcAft>
                <a:spcPts val="0"/>
              </a:spcAft>
            </a:pPr>
            <a:r>
              <a:rPr sz="1600" b="0">
                <a:solidFill>
                  <a:srgbClr val="4A2608"/>
                </a:solidFill>
                <a:latin typeface="Calibri"/>
              </a:rPr>
              <a:t>Local stats, friends and leaderboard</a:t>
            </a:r>
          </a:p>
        </p:txBody>
      </p:sp>
      <p:sp>
        <p:nvSpPr>
          <p:cNvPr id="19" name="Rectangle 18"/>
          <p:cNvSpPr/>
          <p:nvPr/>
        </p:nvSpPr>
        <p:spPr>
          <a:xfrm>
            <a:off x="548640" y="4187952"/>
            <a:ext cx="182880" cy="182880"/>
          </a:xfrm>
          <a:prstGeom prst="rect">
            <a:avLst/>
          </a:prstGeom>
          <a:solidFill>
            <a:srgbClr val="2E7D32"/>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078224"/>
            <a:ext cx="5166360" cy="594360"/>
          </a:xfrm>
          <a:prstGeom prst="rect">
            <a:avLst/>
          </a:prstGeom>
          <a:noFill/>
        </p:spPr>
        <p:txBody>
          <a:bodyPr wrap="square" lIns="36576" rIns="36576" tIns="18288" bIns="18288" anchor="t">
            <a:spAutoFit/>
          </a:bodyPr>
          <a:lstStyle/>
          <a:p>
            <a:pPr algn="l">
              <a:spcAft>
                <a:spcPts val="0"/>
              </a:spcAft>
            </a:pPr>
            <a:r>
              <a:rPr sz="1600" b="0">
                <a:solidFill>
                  <a:srgbClr val="4A2608"/>
                </a:solidFill>
                <a:latin typeface="Calibri"/>
              </a:rPr>
              <a:t>Wallet connect, signed score memo and soulbound badge (devnet)</a:t>
            </a:r>
          </a:p>
        </p:txBody>
      </p:sp>
      <p:sp>
        <p:nvSpPr>
          <p:cNvPr id="21" name="Rectangle 20"/>
          <p:cNvSpPr/>
          <p:nvPr/>
        </p:nvSpPr>
        <p:spPr>
          <a:xfrm>
            <a:off x="548640" y="4800600"/>
            <a:ext cx="182880" cy="182880"/>
          </a:xfrm>
          <a:prstGeom prst="rect">
            <a:avLst/>
          </a:prstGeom>
          <a:solidFill>
            <a:srgbClr val="2E7D32"/>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4690872"/>
            <a:ext cx="5166360" cy="594360"/>
          </a:xfrm>
          <a:prstGeom prst="rect">
            <a:avLst/>
          </a:prstGeom>
          <a:noFill/>
        </p:spPr>
        <p:txBody>
          <a:bodyPr wrap="square" lIns="36576" rIns="36576" tIns="18288" bIns="18288" anchor="t">
            <a:spAutoFit/>
          </a:bodyPr>
          <a:lstStyle/>
          <a:p>
            <a:pPr algn="l">
              <a:spcAft>
                <a:spcPts val="0"/>
              </a:spcAft>
            </a:pPr>
            <a:r>
              <a:rPr sz="1600" b="0">
                <a:solidFill>
                  <a:srgbClr val="4A2608"/>
                </a:solidFill>
                <a:latin typeface="Calibri"/>
              </a:rPr>
              <a:t>SKR holder cosmetics</a:t>
            </a:r>
          </a:p>
        </p:txBody>
      </p:sp>
      <p:sp>
        <p:nvSpPr>
          <p:cNvPr id="23" name="Rectangle 22"/>
          <p:cNvSpPr/>
          <p:nvPr/>
        </p:nvSpPr>
        <p:spPr>
          <a:xfrm>
            <a:off x="548640" y="5413248"/>
            <a:ext cx="182880" cy="182880"/>
          </a:xfrm>
          <a:prstGeom prst="rect">
            <a:avLst/>
          </a:prstGeom>
          <a:solidFill>
            <a:srgbClr val="2E7D32"/>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5303520"/>
            <a:ext cx="5166360" cy="594360"/>
          </a:xfrm>
          <a:prstGeom prst="rect">
            <a:avLst/>
          </a:prstGeom>
          <a:noFill/>
        </p:spPr>
        <p:txBody>
          <a:bodyPr wrap="square" lIns="36576" rIns="36576" tIns="18288" bIns="18288" anchor="t">
            <a:spAutoFit/>
          </a:bodyPr>
          <a:lstStyle/>
          <a:p>
            <a:pPr algn="l">
              <a:spcAft>
                <a:spcPts val="0"/>
              </a:spcAft>
            </a:pPr>
            <a:r>
              <a:rPr sz="1600" b="0">
                <a:solidFill>
                  <a:srgbClr val="4A2608"/>
                </a:solidFill>
                <a:latin typeface="Calibri"/>
              </a:rPr>
              <a:t>Automated suites: engine, scoring, chain records, menu, stress</a:t>
            </a:r>
          </a:p>
        </p:txBody>
      </p:sp>
      <p:sp>
        <p:nvSpPr>
          <p:cNvPr id="25" name="Rectangle 24"/>
          <p:cNvSpPr/>
          <p:nvPr/>
        </p:nvSpPr>
        <p:spPr>
          <a:xfrm>
            <a:off x="6172200" y="2350008"/>
            <a:ext cx="182880" cy="182880"/>
          </a:xfrm>
          <a:prstGeom prst="rect">
            <a:avLst/>
          </a:prstGeom>
          <a:solidFill>
            <a:srgbClr val="B02A2A"/>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2240280"/>
            <a:ext cx="5166360" cy="594360"/>
          </a:xfrm>
          <a:prstGeom prst="rect">
            <a:avLst/>
          </a:prstGeom>
          <a:noFill/>
        </p:spPr>
        <p:txBody>
          <a:bodyPr wrap="square" lIns="36576" rIns="36576" tIns="18288" bIns="18288" anchor="t">
            <a:spAutoFit/>
          </a:bodyPr>
          <a:lstStyle/>
          <a:p>
            <a:pPr algn="l">
              <a:spcAft>
                <a:spcPts val="0"/>
              </a:spcAft>
            </a:pPr>
            <a:r>
              <a:rPr sz="1600" b="0">
                <a:solidFill>
                  <a:srgbClr val="4A2608"/>
                </a:solidFill>
                <a:latin typeface="Calibri"/>
              </a:rPr>
              <a:t>Mainnet deployment (checklist is in the repo)</a:t>
            </a:r>
          </a:p>
        </p:txBody>
      </p:sp>
      <p:sp>
        <p:nvSpPr>
          <p:cNvPr id="27" name="Rectangle 26"/>
          <p:cNvSpPr/>
          <p:nvPr/>
        </p:nvSpPr>
        <p:spPr>
          <a:xfrm>
            <a:off x="6172200" y="2962656"/>
            <a:ext cx="182880" cy="182880"/>
          </a:xfrm>
          <a:prstGeom prst="rect">
            <a:avLst/>
          </a:prstGeom>
          <a:solidFill>
            <a:srgbClr val="B02A2A"/>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0" y="2852928"/>
            <a:ext cx="5166360" cy="594360"/>
          </a:xfrm>
          <a:prstGeom prst="rect">
            <a:avLst/>
          </a:prstGeom>
          <a:noFill/>
        </p:spPr>
        <p:txBody>
          <a:bodyPr wrap="square" lIns="36576" rIns="36576" tIns="18288" bIns="18288" anchor="t">
            <a:spAutoFit/>
          </a:bodyPr>
          <a:lstStyle/>
          <a:p>
            <a:pPr algn="l">
              <a:spcAft>
                <a:spcPts val="0"/>
              </a:spcAft>
            </a:pPr>
            <a:r>
              <a:rPr sz="1600" b="0">
                <a:solidFill>
                  <a:srgbClr val="4A2608"/>
                </a:solidFill>
                <a:latin typeface="Calibri"/>
              </a:rPr>
              <a:t>Hosted leaderboard: it is local, no indexer yet</a:t>
            </a:r>
          </a:p>
        </p:txBody>
      </p:sp>
      <p:sp>
        <p:nvSpPr>
          <p:cNvPr id="29" name="Rectangle 28"/>
          <p:cNvSpPr/>
          <p:nvPr/>
        </p:nvSpPr>
        <p:spPr>
          <a:xfrm>
            <a:off x="6172200" y="3575304"/>
            <a:ext cx="182880" cy="182880"/>
          </a:xfrm>
          <a:prstGeom prst="rect">
            <a:avLst/>
          </a:prstGeom>
          <a:solidFill>
            <a:srgbClr val="B02A2A"/>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92240" y="3465576"/>
            <a:ext cx="5166360" cy="594360"/>
          </a:xfrm>
          <a:prstGeom prst="rect">
            <a:avLst/>
          </a:prstGeom>
          <a:noFill/>
        </p:spPr>
        <p:txBody>
          <a:bodyPr wrap="square" lIns="36576" rIns="36576" tIns="18288" bIns="18288" anchor="t">
            <a:spAutoFit/>
          </a:bodyPr>
          <a:lstStyle/>
          <a:p>
            <a:pPr algn="l">
              <a:spcAft>
                <a:spcPts val="0"/>
              </a:spcAft>
            </a:pPr>
            <a:r>
              <a:rPr sz="1600" b="0">
                <a:solidFill>
                  <a:srgbClr val="4A2608"/>
                </a:solidFill>
                <a:latin typeface="Calibri"/>
              </a:rPr>
              <a:t>Anti-cheat: a memo is a signed, rule-consistent record, not proof of play</a:t>
            </a:r>
          </a:p>
        </p:txBody>
      </p:sp>
      <p:sp>
        <p:nvSpPr>
          <p:cNvPr id="31" name="Rectangle 30"/>
          <p:cNvSpPr/>
          <p:nvPr/>
        </p:nvSpPr>
        <p:spPr>
          <a:xfrm>
            <a:off x="6172200" y="4187952"/>
            <a:ext cx="182880" cy="182880"/>
          </a:xfrm>
          <a:prstGeom prst="rect">
            <a:avLst/>
          </a:prstGeom>
          <a:solidFill>
            <a:srgbClr val="B02A2A"/>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92240" y="4078224"/>
            <a:ext cx="5166360" cy="594360"/>
          </a:xfrm>
          <a:prstGeom prst="rect">
            <a:avLst/>
          </a:prstGeom>
          <a:noFill/>
        </p:spPr>
        <p:txBody>
          <a:bodyPr wrap="square" lIns="36576" rIns="36576" tIns="18288" bIns="18288" anchor="t">
            <a:spAutoFit/>
          </a:bodyPr>
          <a:lstStyle/>
          <a:p>
            <a:pPr algn="l">
              <a:spcAft>
                <a:spcPts val="0"/>
              </a:spcAft>
            </a:pPr>
            <a:r>
              <a:rPr sz="1600" b="0">
                <a:solidFill>
                  <a:srgbClr val="4A2608"/>
                </a:solidFill>
                <a:latin typeface="Calibri"/>
              </a:rPr>
              <a:t>SKR badge upgrades and prize pool: code only, inactive</a:t>
            </a:r>
          </a:p>
        </p:txBody>
      </p:sp>
      <p:sp>
        <p:nvSpPr>
          <p:cNvPr id="33" name="Rectangle 32"/>
          <p:cNvSpPr/>
          <p:nvPr/>
        </p:nvSpPr>
        <p:spPr>
          <a:xfrm>
            <a:off x="6172200" y="4800600"/>
            <a:ext cx="182880" cy="182880"/>
          </a:xfrm>
          <a:prstGeom prst="rect">
            <a:avLst/>
          </a:prstGeom>
          <a:solidFill>
            <a:srgbClr val="B02A2A"/>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92240" y="4690872"/>
            <a:ext cx="5166360" cy="594360"/>
          </a:xfrm>
          <a:prstGeom prst="rect">
            <a:avLst/>
          </a:prstGeom>
          <a:noFill/>
        </p:spPr>
        <p:txBody>
          <a:bodyPr wrap="square" lIns="36576" rIns="36576" tIns="18288" bIns="18288" anchor="t">
            <a:spAutoFit/>
          </a:bodyPr>
          <a:lstStyle/>
          <a:p>
            <a:pPr algn="l">
              <a:spcAft>
                <a:spcPts val="0"/>
              </a:spcAft>
            </a:pPr>
            <a:r>
              <a:rPr sz="1600" b="0">
                <a:solidFill>
                  <a:srgbClr val="4A2608"/>
                </a:solidFill>
                <a:latin typeface="Calibri"/>
              </a:rPr>
              <a:t>Wallet labels are derived heuristics, not identities</a:t>
            </a:r>
          </a:p>
        </p:txBody>
      </p:sp>
      <p:sp>
        <p:nvSpPr>
          <p:cNvPr id="35" name="Rectangle 34"/>
          <p:cNvSpPr/>
          <p:nvPr/>
        </p:nvSpPr>
        <p:spPr>
          <a:xfrm>
            <a:off x="6172200" y="5413248"/>
            <a:ext cx="182880" cy="182880"/>
          </a:xfrm>
          <a:prstGeom prst="rect">
            <a:avLst/>
          </a:prstGeom>
          <a:solidFill>
            <a:srgbClr val="B02A2A"/>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92240" y="5303520"/>
            <a:ext cx="5166360" cy="594360"/>
          </a:xfrm>
          <a:prstGeom prst="rect">
            <a:avLst/>
          </a:prstGeom>
          <a:noFill/>
        </p:spPr>
        <p:txBody>
          <a:bodyPr wrap="square" lIns="36576" rIns="36576" tIns="18288" bIns="18288" anchor="t">
            <a:spAutoFit/>
          </a:bodyPr>
          <a:lstStyle/>
          <a:p>
            <a:pPr algn="l">
              <a:spcAft>
                <a:spcPts val="0"/>
              </a:spcAft>
            </a:pPr>
            <a:r>
              <a:rPr sz="1600" b="0">
                <a:solidFill>
                  <a:srgbClr val="4A2608"/>
                </a:solidFill>
                <a:latin typeface="Calibri"/>
              </a:rPr>
              <a:t>Chain behaviour tested with mocks and by hand</a:t>
            </a:r>
          </a:p>
        </p:txBody>
      </p:sp>
      <p:sp>
        <p:nvSpPr>
          <p:cNvPr id="37" name="Rectangle 36"/>
          <p:cNvSpPr/>
          <p:nvPr/>
        </p:nvSpPr>
        <p:spPr>
          <a:xfrm>
            <a:off x="548640" y="5943600"/>
            <a:ext cx="11109960" cy="411480"/>
          </a:xfrm>
          <a:prstGeom prst="rect">
            <a:avLst/>
          </a:prstGeom>
          <a:solidFill>
            <a:srgbClr val="F7C53B"/>
          </a:solidFill>
          <a:ln w="2540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8640" y="5943600"/>
            <a:ext cx="11109960" cy="411480"/>
          </a:xfrm>
          <a:prstGeom prst="rect">
            <a:avLst/>
          </a:prstGeom>
          <a:noFill/>
        </p:spPr>
        <p:txBody>
          <a:bodyPr wrap="square" lIns="36576" rIns="36576" tIns="18288" bIns="18288" anchor="ctr">
            <a:spAutoFit/>
          </a:bodyPr>
          <a:lstStyle/>
          <a:p>
            <a:pPr algn="ctr">
              <a:spcAft>
                <a:spcPts val="0"/>
              </a:spcAft>
            </a:pPr>
            <a:r>
              <a:rPr sz="1400" b="1">
                <a:solidFill>
                  <a:srgbClr val="4A2608"/>
                </a:solidFill>
                <a:latin typeface="Calibri"/>
              </a:rPr>
              <a:t>Production Android APK built  ·  public repository, Apache-2.0  ·  github.com/justriri/rugrat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4DC"/>
        </a:solidFill>
        <a:effectLst/>
      </p:bgPr>
    </p:bg>
    <p:spTree>
      <p:nvGrpSpPr>
        <p:cNvPr id="1" name=""/>
        <p:cNvGrpSpPr/>
        <p:nvPr/>
      </p:nvGrpSpPr>
      <p:grpSpPr/>
      <p:sp>
        <p:nvSpPr>
          <p:cNvPr id="2" name="TextBox 1"/>
          <p:cNvSpPr txBox="1"/>
          <p:nvPr/>
        </p:nvSpPr>
        <p:spPr>
          <a:xfrm>
            <a:off x="548640" y="347472"/>
            <a:ext cx="11064240" cy="822960"/>
          </a:xfrm>
          <a:prstGeom prst="rect">
            <a:avLst/>
          </a:prstGeom>
          <a:noFill/>
        </p:spPr>
        <p:txBody>
          <a:bodyPr wrap="square" lIns="36576" rIns="36576" tIns="18288" bIns="18288" anchor="ctr">
            <a:spAutoFit/>
          </a:bodyPr>
          <a:lstStyle/>
          <a:p>
            <a:pPr algn="l">
              <a:spcAft>
                <a:spcPts val="0"/>
              </a:spcAft>
            </a:pPr>
            <a:r>
              <a:rPr sz="3000" b="1">
                <a:solidFill>
                  <a:srgbClr val="4A2608"/>
                </a:solidFill>
                <a:latin typeface="Courier New"/>
              </a:rPr>
              <a:t>Why you'd come back, and what's next</a:t>
            </a:r>
          </a:p>
        </p:txBody>
      </p:sp>
      <p:sp>
        <p:nvSpPr>
          <p:cNvPr id="3" name="Rectangle 2"/>
          <p:cNvSpPr/>
          <p:nvPr/>
        </p:nvSpPr>
        <p:spPr>
          <a:xfrm>
            <a:off x="585216" y="1188720"/>
            <a:ext cx="201168" cy="201168"/>
          </a:xfrm>
          <a:prstGeom prst="rect">
            <a:avLst/>
          </a:prstGeom>
          <a:solidFill>
            <a:srgbClr val="F7C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9536" y="1188720"/>
            <a:ext cx="201168" cy="201168"/>
          </a:xfrm>
          <a:prstGeom prst="rect">
            <a:avLst/>
          </a:prstGeom>
          <a:solidFill>
            <a:srgbClr val="F08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33856" y="1188720"/>
            <a:ext cx="201168" cy="201168"/>
          </a:xfrm>
          <a:prstGeom prst="rect">
            <a:avLst/>
          </a:prstGeom>
          <a:solidFill>
            <a:srgbClr val="F7C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08176" y="1188720"/>
            <a:ext cx="201168" cy="201168"/>
          </a:xfrm>
          <a:prstGeom prst="rect">
            <a:avLst/>
          </a:prstGeom>
          <a:solidFill>
            <a:srgbClr val="F08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46520"/>
            <a:ext cx="640080" cy="274320"/>
          </a:xfrm>
          <a:prstGeom prst="rect">
            <a:avLst/>
          </a:prstGeom>
          <a:noFill/>
        </p:spPr>
        <p:txBody>
          <a:bodyPr wrap="square" lIns="36576" rIns="36576" tIns="18288" bIns="18288" anchor="t">
            <a:spAutoFit/>
          </a:bodyPr>
          <a:lstStyle/>
          <a:p>
            <a:pPr algn="r">
              <a:spcAft>
                <a:spcPts val="0"/>
              </a:spcAft>
            </a:pPr>
            <a:r>
              <a:rPr sz="1100" b="1">
                <a:solidFill>
                  <a:srgbClr val="4A2608"/>
                </a:solidFill>
                <a:latin typeface="Courier New"/>
              </a:rPr>
              <a:t>10</a:t>
            </a:r>
          </a:p>
        </p:txBody>
      </p:sp>
      <p:sp>
        <p:nvSpPr>
          <p:cNvPr id="8" name="TextBox 7"/>
          <p:cNvSpPr txBox="1"/>
          <p:nvPr/>
        </p:nvSpPr>
        <p:spPr>
          <a:xfrm>
            <a:off x="548640" y="6446520"/>
            <a:ext cx="7315200" cy="274320"/>
          </a:xfrm>
          <a:prstGeom prst="rect">
            <a:avLst/>
          </a:prstGeom>
          <a:noFill/>
        </p:spPr>
        <p:txBody>
          <a:bodyPr wrap="square" lIns="36576" rIns="36576" tIns="18288" bIns="18288" anchor="t">
            <a:spAutoFit/>
          </a:bodyPr>
          <a:lstStyle/>
          <a:p>
            <a:pPr algn="l">
              <a:spcAft>
                <a:spcPts val="0"/>
              </a:spcAft>
            </a:pPr>
            <a:r>
              <a:rPr sz="1100" b="0">
                <a:solidFill>
                  <a:srgbClr val="4A2608"/>
                </a:solidFill>
                <a:latin typeface="Courier New"/>
              </a:rPr>
              <a:t>RUGRAT  ·  CLOCK IN: Solana Mobile Hackathon</a:t>
            </a:r>
          </a:p>
        </p:txBody>
      </p:sp>
      <p:sp>
        <p:nvSpPr>
          <p:cNvPr id="9" name="TextBox 8"/>
          <p:cNvSpPr txBox="1"/>
          <p:nvPr/>
        </p:nvSpPr>
        <p:spPr>
          <a:xfrm>
            <a:off x="548640" y="1600200"/>
            <a:ext cx="5486400" cy="457200"/>
          </a:xfrm>
          <a:prstGeom prst="rect">
            <a:avLst/>
          </a:prstGeom>
          <a:noFill/>
        </p:spPr>
        <p:txBody>
          <a:bodyPr wrap="square" lIns="36576" rIns="36576" tIns="18288" bIns="18288" anchor="t">
            <a:spAutoFit/>
          </a:bodyPr>
          <a:lstStyle/>
          <a:p>
            <a:pPr algn="l">
              <a:spcAft>
                <a:spcPts val="0"/>
              </a:spcAft>
            </a:pPr>
            <a:r>
              <a:rPr sz="1600" b="1">
                <a:solidFill>
                  <a:srgbClr val="4A2608"/>
                </a:solidFill>
                <a:latin typeface="Courier New"/>
              </a:rPr>
              <a:t>WHY IT STICKS</a:t>
            </a:r>
          </a:p>
        </p:txBody>
      </p:sp>
      <p:sp>
        <p:nvSpPr>
          <p:cNvPr id="10" name="Rectangle 9"/>
          <p:cNvSpPr/>
          <p:nvPr/>
        </p:nvSpPr>
        <p:spPr>
          <a:xfrm>
            <a:off x="594360" y="2194560"/>
            <a:ext cx="182880" cy="182880"/>
          </a:xfrm>
          <a:prstGeom prst="rect">
            <a:avLst/>
          </a:prstGeom>
          <a:solidFill>
            <a:srgbClr val="F7C53B"/>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103120"/>
            <a:ext cx="5074920" cy="1097280"/>
          </a:xfrm>
          <a:prstGeom prst="rect">
            <a:avLst/>
          </a:prstGeom>
          <a:noFill/>
        </p:spPr>
        <p:txBody>
          <a:bodyPr wrap="square" lIns="36576" rIns="36576" tIns="18288" bIns="18288" anchor="t">
            <a:spAutoFit/>
          </a:bodyPr>
          <a:lstStyle/>
          <a:p>
            <a:pPr algn="l">
              <a:spcAft>
                <a:spcPts val="200"/>
              </a:spcAft>
            </a:pPr>
            <a:r>
              <a:rPr sz="1900" b="1">
                <a:solidFill>
                  <a:srgbClr val="4A2608"/>
                </a:solidFill>
                <a:latin typeface="Calibri"/>
              </a:rPr>
              <a:t>Every rug plays differently</a:t>
            </a:r>
          </a:p>
          <a:p>
            <a:pPr algn="l">
              <a:spcAft>
                <a:spcPts val="0"/>
              </a:spcAft>
            </a:pPr>
            <a:r>
              <a:rPr sz="1600" b="0">
                <a:solidFill>
                  <a:srgbClr val="4A2608"/>
                </a:solidFill>
                <a:latin typeface="Calibri"/>
              </a:rPr>
              <a:t>Fast dump, slow bleed, dev exit.</a:t>
            </a:r>
          </a:p>
        </p:txBody>
      </p:sp>
      <p:sp>
        <p:nvSpPr>
          <p:cNvPr id="12" name="Rectangle 11"/>
          <p:cNvSpPr/>
          <p:nvPr/>
        </p:nvSpPr>
        <p:spPr>
          <a:xfrm>
            <a:off x="594360" y="3418839"/>
            <a:ext cx="182880" cy="182880"/>
          </a:xfrm>
          <a:prstGeom prst="rect">
            <a:avLst/>
          </a:prstGeom>
          <a:solidFill>
            <a:srgbClr val="F7C53B"/>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327399"/>
            <a:ext cx="5074920" cy="1097280"/>
          </a:xfrm>
          <a:prstGeom prst="rect">
            <a:avLst/>
          </a:prstGeom>
          <a:noFill/>
        </p:spPr>
        <p:txBody>
          <a:bodyPr wrap="square" lIns="36576" rIns="36576" tIns="18288" bIns="18288" anchor="t">
            <a:spAutoFit/>
          </a:bodyPr>
          <a:lstStyle/>
          <a:p>
            <a:pPr algn="l">
              <a:spcAft>
                <a:spcPts val="200"/>
              </a:spcAft>
            </a:pPr>
            <a:r>
              <a:rPr sz="1900" b="1">
                <a:solidFill>
                  <a:srgbClr val="4A2608"/>
                </a:solidFill>
                <a:latin typeface="Calibri"/>
              </a:rPr>
              <a:t>A score to beat</a:t>
            </a:r>
          </a:p>
          <a:p>
            <a:pPr algn="l">
              <a:spcAft>
                <a:spcPts val="0"/>
              </a:spcAft>
            </a:pPr>
            <a:r>
              <a:rPr sz="1600" b="0">
                <a:solidFill>
                  <a:srgbClr val="4A2608"/>
                </a:solidFill>
                <a:latin typeface="Calibri"/>
              </a:rPr>
              <a:t>0 to 1000, HARD mode, clean exits.</a:t>
            </a:r>
          </a:p>
        </p:txBody>
      </p:sp>
      <p:sp>
        <p:nvSpPr>
          <p:cNvPr id="14" name="Rectangle 13"/>
          <p:cNvSpPr/>
          <p:nvPr/>
        </p:nvSpPr>
        <p:spPr>
          <a:xfrm>
            <a:off x="594360" y="4643119"/>
            <a:ext cx="182880" cy="182880"/>
          </a:xfrm>
          <a:prstGeom prst="rect">
            <a:avLst/>
          </a:prstGeom>
          <a:solidFill>
            <a:srgbClr val="F7C53B"/>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551679"/>
            <a:ext cx="5074920" cy="1097280"/>
          </a:xfrm>
          <a:prstGeom prst="rect">
            <a:avLst/>
          </a:prstGeom>
          <a:noFill/>
        </p:spPr>
        <p:txBody>
          <a:bodyPr wrap="square" lIns="36576" rIns="36576" tIns="18288" bIns="18288" anchor="t">
            <a:spAutoFit/>
          </a:bodyPr>
          <a:lstStyle/>
          <a:p>
            <a:pPr algn="l">
              <a:spcAft>
                <a:spcPts val="200"/>
              </a:spcAft>
            </a:pPr>
            <a:r>
              <a:rPr sz="1900" b="1">
                <a:solidFill>
                  <a:srgbClr val="4A2608"/>
                </a:solidFill>
                <a:latin typeface="Calibri"/>
              </a:rPr>
              <a:t>A badge to earn</a:t>
            </a:r>
          </a:p>
          <a:p>
            <a:pPr algn="l">
              <a:spcAft>
                <a:spcPts val="0"/>
              </a:spcAft>
            </a:pPr>
            <a:r>
              <a:rPr sz="1600" b="0">
                <a:solidFill>
                  <a:srgbClr val="4A2608"/>
                </a:solidFill>
                <a:latin typeface="Calibri"/>
              </a:rPr>
              <a:t>Three unique rugs, higher tiers as rugs are added.</a:t>
            </a:r>
          </a:p>
        </p:txBody>
      </p:sp>
      <p:sp>
        <p:nvSpPr>
          <p:cNvPr id="16" name="TextBox 15"/>
          <p:cNvSpPr txBox="1"/>
          <p:nvPr/>
        </p:nvSpPr>
        <p:spPr>
          <a:xfrm>
            <a:off x="6400800" y="1600200"/>
            <a:ext cx="5212080" cy="457200"/>
          </a:xfrm>
          <a:prstGeom prst="rect">
            <a:avLst/>
          </a:prstGeom>
          <a:noFill/>
        </p:spPr>
        <p:txBody>
          <a:bodyPr wrap="square" lIns="36576" rIns="36576" tIns="18288" bIns="18288" anchor="t">
            <a:spAutoFit/>
          </a:bodyPr>
          <a:lstStyle/>
          <a:p>
            <a:pPr algn="l">
              <a:spcAft>
                <a:spcPts val="0"/>
              </a:spcAft>
            </a:pPr>
            <a:r>
              <a:rPr sz="1600" b="1">
                <a:solidFill>
                  <a:srgbClr val="4A2608"/>
                </a:solidFill>
                <a:latin typeface="Courier New"/>
              </a:rPr>
              <a:t>NEXT</a:t>
            </a:r>
          </a:p>
        </p:txBody>
      </p:sp>
      <p:sp>
        <p:nvSpPr>
          <p:cNvPr id="17" name="Rectangle 16"/>
          <p:cNvSpPr/>
          <p:nvPr/>
        </p:nvSpPr>
        <p:spPr>
          <a:xfrm>
            <a:off x="6446520" y="2194560"/>
            <a:ext cx="182880" cy="182880"/>
          </a:xfrm>
          <a:prstGeom prst="rect">
            <a:avLst/>
          </a:prstGeom>
          <a:solidFill>
            <a:srgbClr val="F08A24"/>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66559" y="2103120"/>
            <a:ext cx="4846320" cy="777240"/>
          </a:xfrm>
          <a:prstGeom prst="rect">
            <a:avLst/>
          </a:prstGeom>
          <a:noFill/>
        </p:spPr>
        <p:txBody>
          <a:bodyPr wrap="square" lIns="36576" rIns="36576" tIns="18288" bIns="18288" anchor="t">
            <a:spAutoFit/>
          </a:bodyPr>
          <a:lstStyle/>
          <a:p>
            <a:pPr algn="l">
              <a:spcAft>
                <a:spcPts val="0"/>
              </a:spcAft>
            </a:pPr>
            <a:r>
              <a:rPr sz="1800" b="1">
                <a:solidFill>
                  <a:srgbClr val="4A2608"/>
                </a:solidFill>
                <a:latin typeface="Calibri"/>
              </a:rPr>
              <a:t>More rugs, which also unlock higher badge tiers</a:t>
            </a:r>
          </a:p>
        </p:txBody>
      </p:sp>
      <p:sp>
        <p:nvSpPr>
          <p:cNvPr id="19" name="Rectangle 18"/>
          <p:cNvSpPr/>
          <p:nvPr/>
        </p:nvSpPr>
        <p:spPr>
          <a:xfrm>
            <a:off x="6446520" y="3073400"/>
            <a:ext cx="182880" cy="182880"/>
          </a:xfrm>
          <a:prstGeom prst="rect">
            <a:avLst/>
          </a:prstGeom>
          <a:solidFill>
            <a:srgbClr val="F08A24"/>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59" y="2981960"/>
            <a:ext cx="4846320" cy="777240"/>
          </a:xfrm>
          <a:prstGeom prst="rect">
            <a:avLst/>
          </a:prstGeom>
          <a:noFill/>
        </p:spPr>
        <p:txBody>
          <a:bodyPr wrap="square" lIns="36576" rIns="36576" tIns="18288" bIns="18288" anchor="t">
            <a:spAutoFit/>
          </a:bodyPr>
          <a:lstStyle/>
          <a:p>
            <a:pPr algn="l">
              <a:spcAft>
                <a:spcPts val="0"/>
              </a:spcAft>
            </a:pPr>
            <a:r>
              <a:rPr sz="1800" b="1">
                <a:solidFill>
                  <a:srgbClr val="4A2608"/>
                </a:solidFill>
                <a:latin typeface="Calibri"/>
              </a:rPr>
              <a:t>Wallet indexer for weekly leaderboards</a:t>
            </a:r>
          </a:p>
        </p:txBody>
      </p:sp>
      <p:sp>
        <p:nvSpPr>
          <p:cNvPr id="21" name="Rectangle 20"/>
          <p:cNvSpPr/>
          <p:nvPr/>
        </p:nvSpPr>
        <p:spPr>
          <a:xfrm>
            <a:off x="6446520" y="3952239"/>
            <a:ext cx="182880" cy="182880"/>
          </a:xfrm>
          <a:prstGeom prst="rect">
            <a:avLst/>
          </a:prstGeom>
          <a:solidFill>
            <a:srgbClr val="F08A24"/>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66559" y="3860800"/>
            <a:ext cx="4846320" cy="777240"/>
          </a:xfrm>
          <a:prstGeom prst="rect">
            <a:avLst/>
          </a:prstGeom>
          <a:noFill/>
        </p:spPr>
        <p:txBody>
          <a:bodyPr wrap="square" lIns="36576" rIns="36576" tIns="18288" bIns="18288" anchor="t">
            <a:spAutoFit/>
          </a:bodyPr>
          <a:lstStyle/>
          <a:p>
            <a:pPr algn="l">
              <a:spcAft>
                <a:spcPts val="0"/>
              </a:spcAft>
            </a:pPr>
            <a:r>
              <a:rPr sz="1800" b="1">
                <a:solidFill>
                  <a:srgbClr val="4A2608"/>
                </a:solidFill>
                <a:latin typeface="Calibri"/>
              </a:rPr>
              <a:t>Issuer attestation of runs for stronger anti-cheat</a:t>
            </a:r>
          </a:p>
        </p:txBody>
      </p:sp>
      <p:sp>
        <p:nvSpPr>
          <p:cNvPr id="23" name="Rectangle 22"/>
          <p:cNvSpPr/>
          <p:nvPr/>
        </p:nvSpPr>
        <p:spPr>
          <a:xfrm>
            <a:off x="6446520" y="4831080"/>
            <a:ext cx="182880" cy="182880"/>
          </a:xfrm>
          <a:prstGeom prst="rect">
            <a:avLst/>
          </a:prstGeom>
          <a:solidFill>
            <a:srgbClr val="F08A24"/>
          </a:solidFill>
          <a:ln w="19050">
            <a:solidFill>
              <a:srgbClr val="4A26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66559" y="4739640"/>
            <a:ext cx="4846320" cy="777240"/>
          </a:xfrm>
          <a:prstGeom prst="rect">
            <a:avLst/>
          </a:prstGeom>
          <a:noFill/>
        </p:spPr>
        <p:txBody>
          <a:bodyPr wrap="square" lIns="36576" rIns="36576" tIns="18288" bIns="18288" anchor="t">
            <a:spAutoFit/>
          </a:bodyPr>
          <a:lstStyle/>
          <a:p>
            <a:pPr algn="l">
              <a:spcAft>
                <a:spcPts val="0"/>
              </a:spcAft>
            </a:pPr>
            <a:r>
              <a:rPr sz="1800" b="1">
                <a:solidFill>
                  <a:srgbClr val="4A2608"/>
                </a:solidFill>
                <a:latin typeface="Calibri"/>
              </a:rPr>
              <a:t>Mainnet deployment of the score and badge flow</a:t>
            </a:r>
          </a:p>
        </p:txBody>
      </p:sp>
      <p:sp>
        <p:nvSpPr>
          <p:cNvPr id="25" name="Rectangle 24"/>
          <p:cNvSpPr/>
          <p:nvPr/>
        </p:nvSpPr>
        <p:spPr>
          <a:xfrm>
            <a:off x="0" y="5440680"/>
            <a:ext cx="12191695" cy="1417320"/>
          </a:xfrm>
          <a:prstGeom prst="rect">
            <a:avLst/>
          </a:prstGeom>
          <a:solidFill>
            <a:srgbClr val="8FD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5440680"/>
            <a:ext cx="12191695" cy="45720"/>
          </a:xfrm>
          <a:prstGeom prst="rect">
            <a:avLst/>
          </a:prstGeom>
          <a:solidFill>
            <a:srgbClr val="4A26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486400"/>
            <a:ext cx="4572000" cy="914400"/>
          </a:xfrm>
          <a:prstGeom prst="rect">
            <a:avLst/>
          </a:prstGeom>
          <a:noFill/>
        </p:spPr>
        <p:txBody>
          <a:bodyPr wrap="square" lIns="36576" rIns="36576" tIns="18288" bIns="18288" anchor="ctr">
            <a:spAutoFit/>
          </a:bodyPr>
          <a:lstStyle/>
          <a:p>
            <a:pPr algn="l">
              <a:spcAft>
                <a:spcPts val="0"/>
              </a:spcAft>
            </a:pPr>
            <a:r>
              <a:rPr sz="4400" b="1">
                <a:solidFill>
                  <a:srgbClr val="4A2608"/>
                </a:solidFill>
                <a:latin typeface="Courier New"/>
              </a:rPr>
              <a:t>RUGRAT</a:t>
            </a:r>
          </a:p>
        </p:txBody>
      </p:sp>
      <p:sp>
        <p:nvSpPr>
          <p:cNvPr id="28" name="TextBox 27"/>
          <p:cNvSpPr txBox="1"/>
          <p:nvPr/>
        </p:nvSpPr>
        <p:spPr>
          <a:xfrm>
            <a:off x="4572000" y="5577840"/>
            <a:ext cx="7132320" cy="914400"/>
          </a:xfrm>
          <a:prstGeom prst="rect">
            <a:avLst/>
          </a:prstGeom>
          <a:noFill/>
        </p:spPr>
        <p:txBody>
          <a:bodyPr wrap="square" lIns="36576" rIns="36576" tIns="18288" bIns="18288" anchor="t">
            <a:spAutoFit/>
          </a:bodyPr>
          <a:lstStyle/>
          <a:p>
            <a:pPr algn="l">
              <a:spcAft>
                <a:spcPts val="400"/>
              </a:spcAft>
            </a:pPr>
            <a:r>
              <a:rPr sz="2200" b="1">
                <a:solidFill>
                  <a:srgbClr val="4A2608"/>
                </a:solidFill>
                <a:latin typeface="Calibri"/>
              </a:rPr>
              <a:t>Can you get out in time?</a:t>
            </a:r>
          </a:p>
          <a:p>
            <a:pPr algn="l">
              <a:spcAft>
                <a:spcPts val="0"/>
              </a:spcAft>
            </a:pPr>
            <a:r>
              <a:rPr sz="1200" b="0">
                <a:solidFill>
                  <a:srgbClr val="4A2608"/>
                </a:solidFill>
                <a:latin typeface="Calibri"/>
              </a:rPr>
              <a:t>github.com/justriri/rugrat  ·  Educational game, not financial advice. Not affiliated with any token, person or project it replays.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